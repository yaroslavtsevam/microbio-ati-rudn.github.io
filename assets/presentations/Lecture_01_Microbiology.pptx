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>
        <p:scale>
          <a:sx n="109" d="100"/>
          <a:sy n="109" d="100"/>
        </p:scale>
        <p:origin x="1224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92507-3A58-544E-914A-3B482F09EA3B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02333-CD62-9F4A-8933-C2335E467B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50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02333-CD62-9F4A-8933-C2335E467B4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02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05840"/>
            <a:ext cx="10360152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475569"/>
                </a:solidFill>
                <a:latin typeface="PT Sans"/>
              </a:defRPr>
            </a:pPr>
            <a:r>
              <a:rPr sz="1600" dirty="0"/>
              <a:t>РОССИЙСКИЙ УНИВЕРСИТЕТ ДРУЖБЫ НАРОДОВ (РУДН) - </a:t>
            </a:r>
            <a:r>
              <a:rPr lang="ru-RU" sz="1600" dirty="0"/>
              <a:t>АТИ</a:t>
            </a:r>
            <a:endParaRPr sz="1600" dirty="0"/>
          </a:p>
          <a:p>
            <a:pPr>
              <a:defRPr sz="1300" b="1">
                <a:solidFill>
                  <a:srgbClr val="1E3A8A"/>
                </a:solidFill>
                <a:latin typeface="PT Sans"/>
              </a:defRPr>
            </a:pPr>
            <a:r>
              <a:rPr dirty="0"/>
              <a:t>КУРС «</a:t>
            </a:r>
            <a:r>
              <a:rPr sz="1400" dirty="0"/>
              <a:t>МИКРОБИОЛОГИЯ</a:t>
            </a:r>
            <a:r>
              <a:rPr dirty="0"/>
              <a:t>»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737360"/>
            <a:ext cx="10360152" cy="25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0152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PT Sans"/>
              </a:rPr>
              <a:t>Морфология, анатомия и классификация микроорганизмов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61771"/>
            <a:ext cx="736209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E3A8A"/>
                </a:solidFill>
                <a:latin typeface="PT Sans"/>
              </a:defRPr>
            </a:pPr>
            <a:r>
              <a:rPr lang="ru-RU" sz="1400" dirty="0"/>
              <a:t>Ярославцев А.М, Москва 2026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1: ВВЕДЕНИЕ В МИКРОБНЫЙ МИР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02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Определение микроорганизма и предмет микробиологии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Биологические критерии микроорганизмов и дифференциация дисциплин (Prescott, Ch. 1.1)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Биологическое определение микроорганизма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Критерий размера:</a:t>
            </a:r>
            <a:r>
              <a:rPr sz="1400" b="0">
                <a:solidFill>
                  <a:srgbClr val="0F172A"/>
                </a:solidFill>
                <a:latin typeface="PT Sans"/>
              </a:rPr>
              <a:t> Микроорганизмы - биологические объекты размером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 &lt;=  1 мм</a:t>
            </a:r>
            <a:r>
              <a:rPr sz="1400" b="0">
                <a:solidFill>
                  <a:srgbClr val="0F172A"/>
                </a:solidFill>
                <a:latin typeface="PT Sans"/>
              </a:rPr>
              <a:t>, микроскопически малые для невооруженного глаза человека и требующие микроскопии для исследования морфологии.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Отсутствие дифференцированных тканей:</a:t>
            </a:r>
            <a:r>
              <a:rPr sz="1400" b="0">
                <a:solidFill>
                  <a:srgbClr val="0F172A"/>
                </a:solidFill>
                <a:latin typeface="PT Sans"/>
              </a:rPr>
              <a:t> Фундаментальный признак микроорганизмов: в отличие от высших многоклеточных растений и животных, их клетки не образуют высокоспециализированных тканей и органов.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Клеточная автономность: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Каждая вегетативная клетка способна самостоятельно осуществлять весь комплекс жизненных функций: метаболический обмен, поддержание гомеостаза, репликацию генома и деление.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Дисциплинарная структура микробиологии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Бактериология: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Исследование прокариотических одноклеточных микроорганизмов - бактерий и архей, особенностей их строения, физиологии и биохимической активности.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Микология: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Изучение микроскопических эукариотических грибов (микромицетов): одноклеточных дрожжей и нитчатых мицелиальных плесневых грибов.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Вирусология: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Изучение облигатных внутриклеточных неклеточных инфекционных агентов - вирусов эукариот и бактериофагов, поражающих бактериальные клетки.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1: ВВЕДЕНИЕ В МИКРОБНЫЙ МИР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03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Глобальная численность и биосферная роль микроорганизмов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Планетарная биомасса 10</a:t>
            </a:r>
            <a:r>
              <a:rPr sz="1012" b="0" baseline="30000">
                <a:solidFill>
                  <a:srgbClr val="475569"/>
                </a:solidFill>
                <a:latin typeface="PT Sans"/>
              </a:rPr>
              <a:t>30</a:t>
            </a:r>
            <a:r>
              <a:rPr sz="1350" b="0">
                <a:solidFill>
                  <a:srgbClr val="475569"/>
                </a:solidFill>
                <a:latin typeface="PT Sans"/>
              </a:rPr>
              <a:t> клеток и фундаментальные биогеохимические циклы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2_global_habi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86" y="1801574"/>
            <a:ext cx="5209465" cy="39557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59" y="6024221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1.1.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Распределение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численности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бактерий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архей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в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глобальных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экосистемах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Земли (Prescott's Microbiology, Fig. 1.2)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1931162"/>
            <a:ext cx="5166360" cy="14080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Глобальная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популяция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: 10</a:t>
            </a:r>
            <a:r>
              <a:rPr lang="ru-RU" sz="1650" b="1" baseline="30000" dirty="0">
                <a:solidFill>
                  <a:srgbClr val="0F172A"/>
                </a:solidFill>
                <a:latin typeface="PT Sans"/>
              </a:rPr>
              <a:t>30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клеток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Микроорганизмы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представляют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доминирующую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форму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жизни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планете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составляя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более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половины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всей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биологической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массы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Земли.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Крупнейшие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резервуары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глубинные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океанические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осадки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(10</a:t>
            </a:r>
            <a:r>
              <a:rPr sz="1050" b="0" baseline="30000" dirty="0">
                <a:solidFill>
                  <a:srgbClr val="0F172A"/>
                </a:solidFill>
                <a:latin typeface="PT Sans"/>
              </a:rPr>
              <a:t>29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подземные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горизонты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литосферы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(1</a:t>
            </a:r>
            <a:r>
              <a:rPr lang="ru-RU" sz="1400" b="0" dirty="0">
                <a:solidFill>
                  <a:srgbClr val="0F172A"/>
                </a:solidFill>
                <a:latin typeface="PT Sans"/>
              </a:rPr>
              <a:t>0</a:t>
            </a:r>
            <a:r>
              <a:rPr lang="ru-RU" sz="1400" b="0" baseline="30000" dirty="0">
                <a:solidFill>
                  <a:srgbClr val="0F172A"/>
                </a:solidFill>
                <a:latin typeface="PT Sans"/>
              </a:rPr>
              <a:t>20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почвы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(1</a:t>
            </a:r>
            <a:r>
              <a:rPr lang="ru-RU" sz="1400" b="0" dirty="0">
                <a:solidFill>
                  <a:srgbClr val="0F172A"/>
                </a:solidFill>
                <a:latin typeface="PT Sans"/>
              </a:rPr>
              <a:t>0</a:t>
            </a:r>
            <a:r>
              <a:rPr lang="ru-RU" sz="1400" b="0" baseline="30000" dirty="0">
                <a:solidFill>
                  <a:srgbClr val="0F172A"/>
                </a:solidFill>
                <a:latin typeface="PT Sans"/>
              </a:rPr>
              <a:t>29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гидросфера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(1</a:t>
            </a:r>
            <a:r>
              <a:rPr lang="ru-RU" sz="1400" b="0" dirty="0">
                <a:solidFill>
                  <a:srgbClr val="0F172A"/>
                </a:solidFill>
                <a:latin typeface="PT Sans"/>
              </a:rPr>
              <a:t>0</a:t>
            </a:r>
            <a:r>
              <a:rPr lang="ru-RU" sz="1400" b="0" baseline="30000" dirty="0">
                <a:solidFill>
                  <a:srgbClr val="0F172A"/>
                </a:solidFill>
                <a:latin typeface="PT Sans"/>
              </a:rPr>
              <a:t>29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618636" cy="11926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Биогеохимические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циклы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элементов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Микробиота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обеспечивает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непрерывный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круговорот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биогенных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элементов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биологическую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фиксацию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атмосферного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азота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N</a:t>
            </a:r>
            <a:r>
              <a:rPr sz="1400" b="0" i="1" baseline="-25000" dirty="0">
                <a:solidFill>
                  <a:srgbClr val="0F172A"/>
                </a:solidFill>
                <a:latin typeface="PT Sans"/>
              </a:rPr>
              <a:t>2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  -&gt;  NH</a:t>
            </a:r>
            <a:r>
              <a:rPr sz="1400" b="0" i="1" baseline="-25000" dirty="0">
                <a:solidFill>
                  <a:srgbClr val="0F172A"/>
                </a:solidFill>
                <a:latin typeface="PT Sans"/>
              </a:rPr>
              <a:t>3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минерализацию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органического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углерода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C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деструкцию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полимеров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трансформацию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соединений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фосфора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P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серы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1: ВВЕДЕНИЕ В МИКРОБНЫЙ МИР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04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Клеточные и неклеточные биологические сущности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Концептуальная классификация живых систем по ультраструктурной организации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1_concept_map_microbes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2206" y="1503172"/>
            <a:ext cx="6800848" cy="33158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4801" y="4944565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Клеточные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организмы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(Cellular)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Ограничены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плазматической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обладают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собственным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метаболизмом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аппаратом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трансляции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рибосомах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Подразделяются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прокариот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Bacteria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Archaea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микроскопических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эукариот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Fungi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дрожжи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плесени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Protists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простейшие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одноклеточные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водоросли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8595" y="4859860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Неклеточные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агенты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(Acellular)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Лишены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собственной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метаболической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автономии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белоксинтезирующего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аппарата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Вирусы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нуклеиновая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кислота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белковом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капсиде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Вироиды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короткие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инфекционные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кольцевые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РНК),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Сателлиты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дефектные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агенты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Прионы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инфекционные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изоформы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генома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1: ВВЕДЕНИЕ В МИКРОБНЫЙ МИР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05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Революция Карла Вёзе: трехдоменная система жизни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Молекулярная филогения на основе нуклеотидных последовательностей 16S/18S рРНК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3_universal_tree_woese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0916" y="1682496"/>
            <a:ext cx="4067527" cy="43708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1.3. Универсальное филогенетическое древо жизни Карла Вёзе на основе рРНК (Prescott's Microbiology, Fig. 1.3)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1892808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Открытие Карла Вёзе (1977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г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.)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Вёзе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доказал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несостоятельность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морфологической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классификации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деления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два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царства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качестве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универсального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молекулярного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хронометра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была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использована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нуклеотидная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последовательность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малой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субъединицы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рибосомной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РНК (16S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рРНК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прокариот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18S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рРНК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эукариот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Три первичных домена биосферы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T Sans"/>
              </a:rPr>
              <a:t>Bacteria</a:t>
            </a:r>
            <a:r>
              <a:rPr sz="1400" b="0">
                <a:solidFill>
                  <a:srgbClr val="0F172A"/>
                </a:solidFill>
                <a:latin typeface="PT Sans"/>
              </a:rPr>
              <a:t> (истинные бактерии с пептидогликановой стенкой), </a:t>
            </a:r>
            <a:r>
              <a:rPr sz="1400" b="1">
                <a:solidFill>
                  <a:srgbClr val="0F172A"/>
                </a:solidFill>
                <a:latin typeface="PT Sans"/>
              </a:rPr>
              <a:t>Archaea</a:t>
            </a:r>
            <a:r>
              <a:rPr sz="1400" b="0">
                <a:solidFill>
                  <a:srgbClr val="0F172A"/>
                </a:solidFill>
                <a:latin typeface="PT Sans"/>
              </a:rPr>
              <a:t> (экстремофилы с эфирными изопреноидными липидами, филогенетически более близкие к эукариотам) и </a:t>
            </a:r>
            <a:r>
              <a:rPr sz="1400" b="1">
                <a:solidFill>
                  <a:srgbClr val="0F172A"/>
                </a:solidFill>
                <a:latin typeface="PT Sans"/>
              </a:rPr>
              <a:t>Eukarya</a:t>
            </a:r>
            <a:r>
              <a:rPr sz="1400" b="0">
                <a:solidFill>
                  <a:srgbClr val="0F172A"/>
                </a:solidFill>
                <a:latin typeface="PT Sans"/>
              </a:rPr>
              <a:t> (организмы с мембранным ядром и эндомембранными органеллами).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1: ВВЕДЕНИЕ В МИКРОБНЫЙ МИР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06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Сравнительная цитология: прокариоты и эукариоты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Принципиальные различия компартментализации и генетического аппарата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Прокариотическая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клетка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Бактерии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Археи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)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Организация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генома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Ядерная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оболочка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отсутствует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;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замкнутая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кольцевая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молекула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двухцепочечной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ДНК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свободно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локализована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цитоплазме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форме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нуклеоида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связанного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гистонами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Отсутствие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органелл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цитоплазме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отсутствуют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органеллы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митохондрии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аппарат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Гольджи, ЭПР,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хлоропласты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);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процессы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дыхания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фотосинтеза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сопряжены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плазматической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Рибосомы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деление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Цитоплазматические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рибосомы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имеют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коэффициент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седиментации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70S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субъединицы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50S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30S).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Деление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происходит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простым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бинарным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делением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образования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веретена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деления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Эукариотическая клетка (Грибы, Растения, Животные)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Оформленное ядро:</a:t>
            </a:r>
            <a:r>
              <a:rPr sz="1400" b="0">
                <a:solidFill>
                  <a:srgbClr val="0F172A"/>
                </a:solidFill>
                <a:latin typeface="PT Sans"/>
              </a:rPr>
              <a:t> Геном представлен линейными хромосомами, упакованными гистоновыми белками и изолированными двухмембранной ядерной оболочкой с поровыми комплексами.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Развитый эндомембранный аппарат:</a:t>
            </a:r>
            <a:r>
              <a:rPr sz="1400" b="0">
                <a:solidFill>
                  <a:srgbClr val="0F172A"/>
                </a:solidFill>
                <a:latin typeface="PT Sans"/>
              </a:rPr>
              <a:t> Четкая компартментализация: синтез АТФ в митохондриях, синтез и транспорт полимеров в шероховатом и гладком ЭПР, модификация и сортировка в комплексе Гольджи.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Рибосомы и деление:</a:t>
            </a:r>
            <a:r>
              <a:rPr sz="1400" b="0">
                <a:solidFill>
                  <a:srgbClr val="0F172A"/>
                </a:solidFill>
                <a:latin typeface="PT Sans"/>
              </a:rPr>
              <a:t> Цитоплазматические рибосомы 80S (субъединицы 60S и 40S). Деление клетки осуществляется путем строго координированного митоза или мейоза с ахроматиновым веретеном.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1: ВВЕДЕНИЕ В МИКРОБНЫЙ МИР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07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Сравнительные масштабы объектов микромира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Пространственная иерархия от многоклеточных клеток до макромолекул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4_scale_microbes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0715" y="1682496"/>
            <a:ext cx="4447929" cy="43708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1.4. Размеры бактерий относительно эритроцита человека и вирусных частиц (Prescott's Microbiology, Fig. 3.3)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1891030"/>
            <a:ext cx="5166360" cy="13388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>
                <a:solidFill>
                  <a:srgbClr val="0F172A"/>
                </a:solidFill>
                <a:latin typeface="PT Sans"/>
              </a:rPr>
              <a:t>Диапазоны клеточных размеров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PT Sans"/>
              </a:rPr>
              <a:t>Эукариотическая клетка (эритроцит человека) имеет диаметр </a:t>
            </a:r>
            <a:r>
              <a:rPr sz="1600" b="0" i="1">
                <a:solidFill>
                  <a:srgbClr val="0F172A"/>
                </a:solidFill>
                <a:latin typeface="PT Sans"/>
              </a:rPr>
              <a:t> ~  7 - 8 мкм</a:t>
            </a:r>
            <a:r>
              <a:rPr sz="1600" b="0">
                <a:solidFill>
                  <a:srgbClr val="0F172A"/>
                </a:solidFill>
                <a:latin typeface="PT Sans"/>
              </a:rPr>
              <a:t>. Типичная палочковидная бактерия </a:t>
            </a:r>
            <a:r>
              <a:rPr sz="1600" b="0" i="1">
                <a:solidFill>
                  <a:srgbClr val="0F172A"/>
                </a:solidFill>
                <a:latin typeface="PT Sans"/>
              </a:rPr>
              <a:t>Escherichia coli</a:t>
            </a:r>
            <a:r>
              <a:rPr sz="1600" b="0">
                <a:solidFill>
                  <a:srgbClr val="0F172A"/>
                </a:solidFill>
                <a:latin typeface="PT Sans"/>
              </a:rPr>
              <a:t> составляет </a:t>
            </a:r>
            <a:r>
              <a:rPr sz="1600" b="0" i="1">
                <a:solidFill>
                  <a:srgbClr val="0F172A"/>
                </a:solidFill>
                <a:latin typeface="PT Sans"/>
              </a:rPr>
              <a:t>1.3  x  4.0 мкм</a:t>
            </a:r>
            <a:r>
              <a:rPr sz="1600" b="0">
                <a:solidFill>
                  <a:srgbClr val="0F172A"/>
                </a:solidFill>
                <a:latin typeface="PT Sans"/>
              </a:rPr>
              <a:t>, а сферический </a:t>
            </a:r>
            <a:r>
              <a:rPr sz="1600" b="0" i="1">
                <a:solidFill>
                  <a:srgbClr val="0F172A"/>
                </a:solidFill>
                <a:latin typeface="PT Sans"/>
              </a:rPr>
              <a:t>Staphylococcus aureus</a:t>
            </a:r>
            <a:r>
              <a:rPr sz="1600" b="0">
                <a:solidFill>
                  <a:srgbClr val="0F172A"/>
                </a:solidFill>
                <a:latin typeface="PT Sans"/>
              </a:rPr>
              <a:t> - около </a:t>
            </a:r>
            <a:r>
              <a:rPr sz="1600" b="0" i="1">
                <a:solidFill>
                  <a:srgbClr val="0F172A"/>
                </a:solidFill>
                <a:latin typeface="PT Sans"/>
              </a:rPr>
              <a:t>1 мкм</a:t>
            </a:r>
            <a:r>
              <a:rPr sz="1600" b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3867912"/>
            <a:ext cx="5166360" cy="13388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dirty="0" err="1">
                <a:solidFill>
                  <a:srgbClr val="0F172A"/>
                </a:solidFill>
                <a:latin typeface="PT Sans"/>
              </a:rPr>
              <a:t>Субмикроскопические</a:t>
            </a:r>
            <a:r>
              <a:rPr b="1" dirty="0">
                <a:solidFill>
                  <a:srgbClr val="0F172A"/>
                </a:solidFill>
                <a:latin typeface="PT Sans"/>
              </a:rPr>
              <a:t> </a:t>
            </a:r>
            <a:r>
              <a:rPr b="1" dirty="0" err="1">
                <a:solidFill>
                  <a:srgbClr val="0F172A"/>
                </a:solidFill>
                <a:latin typeface="PT Sans"/>
              </a:rPr>
              <a:t>структуры</a:t>
            </a:r>
            <a:endParaRPr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F172A"/>
                </a:solidFill>
                <a:latin typeface="PT Sans"/>
              </a:rPr>
              <a:t>Крупные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вирусы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вирус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осповакцины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600" b="0" i="1" dirty="0">
                <a:solidFill>
                  <a:srgbClr val="0F172A"/>
                </a:solidFill>
                <a:latin typeface="PT Sans"/>
              </a:rPr>
              <a:t> ~  200 - 300 </a:t>
            </a:r>
            <a:r>
              <a:rPr sz="16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бактериофаг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Т4 </a:t>
            </a:r>
            <a:r>
              <a:rPr sz="1600" b="0" i="1" dirty="0">
                <a:solidFill>
                  <a:srgbClr val="0F172A"/>
                </a:solidFill>
                <a:latin typeface="PT Sans"/>
              </a:rPr>
              <a:t> ~  100  x  220 </a:t>
            </a:r>
            <a:r>
              <a:rPr sz="16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вирус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гриппа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i="1" dirty="0">
                <a:solidFill>
                  <a:srgbClr val="0F172A"/>
                </a:solidFill>
                <a:latin typeface="PT Sans"/>
              </a:rPr>
              <a:t> ~  100 </a:t>
            </a:r>
            <a:r>
              <a:rPr sz="16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полиовирус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i="1" dirty="0">
                <a:solidFill>
                  <a:srgbClr val="0F172A"/>
                </a:solidFill>
                <a:latin typeface="PT Sans"/>
              </a:rPr>
              <a:t> ~  30 </a:t>
            </a:r>
            <a:r>
              <a:rPr sz="16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рибосома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i="1" dirty="0">
                <a:solidFill>
                  <a:srgbClr val="0F172A"/>
                </a:solidFill>
                <a:latin typeface="PT Sans"/>
              </a:rPr>
              <a:t> ~  20 </a:t>
            </a:r>
            <a:r>
              <a:rPr sz="16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толщина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билипидной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мембраны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i="1" dirty="0">
                <a:solidFill>
                  <a:srgbClr val="0F172A"/>
                </a:solidFill>
                <a:latin typeface="PT Sans"/>
              </a:rPr>
              <a:t> ~  4 - 5 </a:t>
            </a:r>
            <a:r>
              <a:rPr sz="16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2: МОРФОЛОГИЯ И БИОФИЗИКА БАКТЕРИЙ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08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Основные морфологические формы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Кокки, палочки, извитые формы и типы клеточной агрегации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5_bacterial_morphology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10321" y="1440122"/>
            <a:ext cx="7171358" cy="30963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576572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2.1. Основные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формы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бактериальных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клеток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взаимное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расположение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(Prescott's Microbiology, Fig. 3.1)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297" y="4870137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Сферические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формы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Кокки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зависимости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плоскостей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деления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формируют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специфические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скопления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пары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диплококки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Streptococcus pneumoniae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цепочки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стрептококки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Streptococcus thermophilus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виноградные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гроздья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стафилококки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Staphylococcus aureus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пакеты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8-64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сарцины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870137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Палочковидные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извитые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формы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Палочки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бациллы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одиночные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дипло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стрептобациллы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Bacillus subtilis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Lactobacillus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 Извитые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формы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вибрионы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короткие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изогнутые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палочки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спириллы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жесткие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спирали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полярными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жгутиками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спирохеты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гибкие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спирали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эндожгутиками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2: МОРФОЛОГИЯ И БИОФИЗИКА БАКТЕРИЙ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09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Геометрия клетки и отношение поверхности к объему (S/V)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Математическая модель удельной площади поверхности как фактор метаболизма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6_surface_to_volume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516"/>
          <a:stretch>
            <a:fillRect/>
          </a:stretch>
        </p:blipFill>
        <p:spPr>
          <a:xfrm>
            <a:off x="1554607" y="1665842"/>
            <a:ext cx="8778113" cy="28756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5870" y="4707756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2.2. Зависимость отношения площади поверхности к объему от радиуса клетки (Prescott's Microbiology, Fig. 3.5)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06" y="5040257"/>
            <a:ext cx="4919472" cy="11926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Математическая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закономерность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Для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сферической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радиуса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r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площадь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поверхности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S = 4pi r</a:t>
            </a:r>
            <a:r>
              <a:rPr sz="1400" b="0" i="1" baseline="30000" dirty="0">
                <a:solidFill>
                  <a:srgbClr val="0F172A"/>
                </a:solidFill>
                <a:latin typeface="PT Sans"/>
              </a:rPr>
              <a:t>2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объем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V = 4 / 3pi r</a:t>
            </a:r>
            <a:r>
              <a:rPr sz="1400" b="0" i="1" baseline="30000" dirty="0">
                <a:solidFill>
                  <a:srgbClr val="0F172A"/>
                </a:solidFill>
                <a:latin typeface="PT Sans"/>
              </a:rPr>
              <a:t>3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Отношение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S/V = 3 / r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При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уменьшении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радиуса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5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мкм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1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мкм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удельная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поверхность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возрастает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5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0.6 мкм</a:t>
            </a:r>
            <a:r>
              <a:rPr sz="1400" b="0" i="1" baseline="30000" dirty="0">
                <a:solidFill>
                  <a:srgbClr val="0F172A"/>
                </a:solidFill>
                <a:latin typeface="PT Sans"/>
              </a:rPr>
              <a:t>-1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3.0 мкм</a:t>
            </a:r>
            <a:r>
              <a:rPr sz="1400" b="0" i="1" baseline="30000" dirty="0">
                <a:solidFill>
                  <a:srgbClr val="0F172A"/>
                </a:solidFill>
                <a:latin typeface="PT Sans"/>
              </a:rPr>
              <a:t>-1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5190" y="5040257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Биофизический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вывод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Чем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меньше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объем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тем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большая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площадь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приходится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единицу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цитоплазмы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Это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обеспечивает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максимальную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скорость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трансмембранного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диффузионного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транспорта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нутриентов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экскреции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метаболитов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2: МОРФОЛОГИЯ И БИОФИЗИКА БАКТЕРИЙ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10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Биофизические преимущества малых размеров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Метаболический поток, скорость деления и адаптационный потенциал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Кинетика мембранного переноса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Диффузионный транспорт:</a:t>
            </a:r>
            <a:r>
              <a:rPr sz="1400" b="0">
                <a:solidFill>
                  <a:srgbClr val="0F172A"/>
                </a:solidFill>
                <a:latin typeface="PT Sans"/>
              </a:rPr>
              <a:t> В клетке диаметром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 мкм</a:t>
            </a:r>
            <a:r>
              <a:rPr sz="1400" b="0">
                <a:solidFill>
                  <a:srgbClr val="0F172A"/>
                </a:solidFill>
                <a:latin typeface="PT Sans"/>
              </a:rPr>
              <a:t> молекулы растворенных веществ диффундируют из окружающей среды в центр клетки за доли миллисекунды, устраняя необходимость во внутриклеточных транспортных везикулах.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Плотность транспортных белков: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Колоссальное значение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S/V</a:t>
            </a:r>
            <a:r>
              <a:rPr sz="1400" b="0">
                <a:solidFill>
                  <a:srgbClr val="0F172A"/>
                </a:solidFill>
                <a:latin typeface="PT Sans"/>
              </a:rPr>
              <a:t> позволяет разместить высокую удельную концентрацию мембранных белков-переносчиков, пермеаз и протонных помп на единицу метаболизирующей массы.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Интенсивность дыхания: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Удельная скорость потребления субстрата бактериальной клеткой на порядок превышает аналогичный показатель эукариотических клеток сходной биомассы.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Скорость генерации и адаптивность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Экспоненциальное деление:</a:t>
            </a:r>
            <a:r>
              <a:rPr sz="1400" b="0">
                <a:solidFill>
                  <a:srgbClr val="0F172A"/>
                </a:solidFill>
                <a:latin typeface="PT Sans"/>
              </a:rPr>
              <a:t> Высокая удельная скорость метаболизма обеспечивает минимальное время генерации (удвоения популяции): в оптимальных условиях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E. coli</a:t>
            </a:r>
            <a:r>
              <a:rPr sz="1400" b="0">
                <a:solidFill>
                  <a:srgbClr val="0F172A"/>
                </a:solidFill>
                <a:latin typeface="PT Sans"/>
              </a:rPr>
              <a:t> делится каждые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20 минут</a:t>
            </a:r>
            <a:r>
              <a:rPr sz="1400" b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Быстрый синтез ферментов:</a:t>
            </a:r>
            <a:r>
              <a:rPr sz="1400" b="0">
                <a:solidFill>
                  <a:srgbClr val="0F172A"/>
                </a:solidFill>
                <a:latin typeface="PT Sans"/>
              </a:rPr>
              <a:t> Благодаря малому геному и транскрипционно-трансляционному сопряжению бактерия адаптирует экспрессию катаболических оперонов к смене субстрата за секунды.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Мутационная пластичность: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Колоссальный размер популяций (10</a:t>
            </a:r>
            <a:r>
              <a:rPr sz="1050" b="0" baseline="30000">
                <a:solidFill>
                  <a:srgbClr val="0F172A"/>
                </a:solidFill>
                <a:latin typeface="PT Sans"/>
              </a:rPr>
              <a:t>9</a:t>
            </a:r>
            <a:r>
              <a:rPr sz="1400" b="0">
                <a:solidFill>
                  <a:srgbClr val="0F172A"/>
                </a:solidFill>
                <a:latin typeface="PT Sans"/>
              </a:rPr>
              <a:t>) в сочетании с высокой скоростью деления создает мощный резерв адаптивных спонтанных мутаций.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2: МОРФОЛОГИЯ И БИОФИЗИКА БАКТЕРИЙ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11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Ультраструктура бактериальной клетки: общий план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Обязательные и факультативные анатомические компоненты прокариот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7_bacterial_cell_anatomy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2001" y="1694434"/>
            <a:ext cx="6251291" cy="39649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28304"/>
            <a:ext cx="5658153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2.3.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Ультраструктурная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организация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типичной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бактериальной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клетки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3292" y="1953260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Обязательные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органеллы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(Obligate)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Присутствуют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всех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жизнеспособных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бактерий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плазматическая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мембрана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барьер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проницаемости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генерация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энергии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нуклеоид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генетическая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программа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форме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кольцевой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ДНК), 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70S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рибосомы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синтез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цитозоль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коллоидный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матрикс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метаболизма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3292" y="3504184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Факультативные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структуры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(Accessory)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Встречаются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определенных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видов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зависимости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экологии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клеточная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стенка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отсутствует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микоплазм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капсула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слизистый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слой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защита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адгезия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жгутики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локомоция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фимбрии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/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пили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прикрепление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эндоспоры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выживание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запасные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включения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3: МЕМБРАНА И КЛЕТОЧНАЯ СТЕНКА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12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Жидкостно-мозаичная модель плазматической мембраны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Липидный бислой, интегральные и периферические белковые комплексы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8_plasma_membrane.png"/>
          <p:cNvPicPr>
            <a:picLocks noChangeAspect="1"/>
          </p:cNvPicPr>
          <p:nvPr/>
        </p:nvPicPr>
        <p:blipFill>
          <a:blip r:embed="rId2"/>
          <a:srcRect b="7255"/>
          <a:stretch>
            <a:fillRect/>
          </a:stretch>
        </p:blipFill>
        <p:spPr>
          <a:xfrm>
            <a:off x="3232642" y="1548977"/>
            <a:ext cx="5726715" cy="3129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7671" y="4663440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3.1. Модель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строения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плазматической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мембраны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бактерий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(Prescott's Microbiology, Fig. 3.7)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965830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Архитектура фосфолипидного бислоя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Мембрана образована амфипатическими фосфолипидами толщиной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4 - 5 нм</a:t>
            </a:r>
            <a:r>
              <a:rPr sz="1400" b="0">
                <a:solidFill>
                  <a:srgbClr val="0F172A"/>
                </a:solidFill>
                <a:latin typeface="PT Sans"/>
              </a:rPr>
              <a:t>. Гидрофильные полярные головки обращены к водной среде цитоплазмы и периплазмы, гидрофобные неполярные хвосты жирных кислот формируют внутреннее ядро барьера.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965830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Белковые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ансамбли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мембраны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Интегральные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пронизывают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бислой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транспортные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каналы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АТФ-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синтаза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цитохромы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дыхательной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цепи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Периферические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связаны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электростатически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находится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динамическом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жидком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жидкокристаллическом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состоянии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3: МЕМБРАНА И КЛЕТОЧНАЯ СТЕНКА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13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Липидный состав мембран и гопаноиды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Пентациклические тритерпеноиды как бактериальные аналоги холестерина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9_membrane_hopanoids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72540" y="1658619"/>
            <a:ext cx="4184735" cy="28236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1604" y="4612038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3.2. Сравнительная структура стероидов эукариот и бактериальных гопаноидов (Prescott's Microbiology, Fig. 3.9)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772" y="4880770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Функция гопаноидов (Hopanoids)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Бактерии не синтезируют холестерин. Его функциональными аналогами выступают </a:t>
            </a:r>
            <a:r>
              <a:rPr sz="1400" b="1">
                <a:solidFill>
                  <a:srgbClr val="0F172A"/>
                </a:solidFill>
                <a:latin typeface="PT Sans"/>
              </a:rPr>
              <a:t>гопаноиды</a:t>
            </a:r>
            <a:r>
              <a:rPr sz="1400" b="0">
                <a:solidFill>
                  <a:srgbClr val="0F172A"/>
                </a:solidFill>
                <a:latin typeface="PT Sans"/>
              </a:rPr>
              <a:t> (например, диплоптен, бактериогопантетрол) - жесткие пентациклические молекулы, стабилизирующие текучесть бислоя при изменении температуры.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756" y="4880770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Адаптация жирнокислотного профиля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При понижении температуры бактерии увеличивают долю ненасыщенных жирных кислот (с цис-двойными связями), предотвращая затвердевание мембраны. При повышении температуры возрастает доля насыщенных жирных кислот.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3: МЕМБРАНА И КЛЕТОЧНАЯ СТЕНКА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14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Молекулярная структура пептидогликана (муреина)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Гликановые цепи НАГ-НАМ и тетрапептидные поперечные сшивки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10_peptidoglycan_structure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14162" y="1622512"/>
            <a:ext cx="3326757" cy="5074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rot="16200000">
            <a:off x="7909560" y="400507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3.3.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Химическое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строение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субъединицы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пептидогликана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: НАГ, НАМ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пептидный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хвост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(Prescott's Microbiology, Fig. 3.17)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76550"/>
            <a:ext cx="5166360" cy="11926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Гликановый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остов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Полимерная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сеть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состоит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повторяющихся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дисахаридных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звеньев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N-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ацетилглюкозамина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(НАГ)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N-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ацетилмурамовой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кислоты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(НАМ),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соединенных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прочными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ковалентными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бета-1,4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-гликозидными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связями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мишень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лизоцима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50258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Пептидные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поперечные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связи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лактильной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группе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НАМ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присоединен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тетрапептид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чередованием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L-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D-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аминокислот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(D-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аланин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D-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глутаминовая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кислота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m-DAP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L-лизин). Сшивка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между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цепями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катализируется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транспептидазами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пенициллин-связывающими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белками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PBP).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3: МЕМБРАНА И КЛЕТОЧНАЯ СТЕНКА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15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Клеточная стенка грамположительных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Многослойный пептидогликан и полимеры тейхоевых кислот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11_gram_positive_wall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7079" y="1924763"/>
            <a:ext cx="5540412" cy="3946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8571" y="6069326"/>
            <a:ext cx="5157429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3.4. Ультраструктура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клеточной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стенки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грамположительных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бактерий</a:t>
            </a:r>
            <a:endParaRPr sz="1150" b="0" dirty="0">
              <a:solidFill>
                <a:srgbClr val="475569"/>
              </a:solidFill>
              <a:latin typeface="PT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04678" y="1924763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Мощный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муреиновый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каркас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Пептидогликан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образует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гомогенный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слой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толщиной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20 - 80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40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слоев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составляя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90%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сухой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массы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клеточной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стенки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Обеспечивает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механическую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защиту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против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высокого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внутреннего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тургорного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давления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20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атм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583041"/>
            <a:ext cx="4919472" cy="14080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Тейхоевые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липотейхоевые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кислоты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Стенка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пронизана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отрицательно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заряженными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полимерами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глицерол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рибитолфосфата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липотейхоевые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кислоты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заякорены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плазматической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тейхоевые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кислоты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стенки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ковалентно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связаны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НАМ). Связывают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ионы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Mg</a:t>
            </a:r>
            <a:r>
              <a:rPr sz="1400" b="0" i="1" baseline="30000" dirty="0">
                <a:solidFill>
                  <a:srgbClr val="0F172A"/>
                </a:solidFill>
                <a:latin typeface="PT Sans"/>
              </a:rPr>
              <a:t>2+</a:t>
            </a:r>
            <a:r>
              <a:rPr lang="en-US" sz="1400" i="1" baseline="3000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Ca</a:t>
            </a:r>
            <a:r>
              <a:rPr sz="1400" b="0" i="1" baseline="30000" dirty="0">
                <a:solidFill>
                  <a:srgbClr val="0F172A"/>
                </a:solidFill>
                <a:latin typeface="PT Sans"/>
              </a:rPr>
              <a:t>2+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3: МЕМБРАНА И КЛЕТОЧНАЯ СТЕНКА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16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Клеточная стенка грамотрицательных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Периплазматическое пространство, тонкий муреин и внешняя мембрана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12_gram_negative_wall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0080" y="2037840"/>
            <a:ext cx="5723860" cy="35900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4296" y="5751331"/>
            <a:ext cx="5303519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3.5. Модель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молекулярной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организации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стенки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грамотрицательных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бактерий</a:t>
            </a:r>
            <a:endParaRPr sz="1150" b="0" dirty="0">
              <a:solidFill>
                <a:srgbClr val="475569"/>
              </a:solidFill>
              <a:latin typeface="PT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39022" y="2275793"/>
            <a:ext cx="4808682" cy="11926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Периплазма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тонкий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пептидогликан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Пептидогликан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тонкий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2 - 7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1-2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слоя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расположен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внутри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периплазматического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пространства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30 - 70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 Периплазма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заполнена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гелем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содержащим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гидролитические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ферменты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транспортные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шапероны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9022" y="4242816"/>
            <a:ext cx="4808681" cy="14080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Асимметричная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внешняя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мембрана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Внутренний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монослой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образован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фосфолипидами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наружный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монослой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состоит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липополисахарида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(ЛПС). Липопротеин Брауна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ковалентно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связывает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внешнюю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пептидогликаном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Трансмембранные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порины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обеспечивают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диффузию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нутриентов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3: МЕМБРАНА И КЛЕТОЧНАЯ СТЕНКА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17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Липополисахарид (ЛПС) и бактериальные эндотоксины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Молекулярные домены ЛПС грамотрицательных бактерий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Доменная структура молекулы ЛПС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Липид А (Эндотоксин):</a:t>
            </a:r>
            <a:r>
              <a:rPr sz="1400" b="0">
                <a:solidFill>
                  <a:srgbClr val="0F172A"/>
                </a:solidFill>
                <a:latin typeface="PT Sans"/>
              </a:rPr>
              <a:t> Фосфорилированный дисахарид глюкозамина с присоединенными остатками жирных кислот. Погружен во внешний слой внешней мембраны; обусловливает токсичность и термостабильность.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Коровый полисахарид (Core):</a:t>
            </a:r>
            <a:r>
              <a:rPr sz="1400" b="0">
                <a:solidFill>
                  <a:srgbClr val="0F172A"/>
                </a:solidFill>
                <a:latin typeface="PT Sans"/>
              </a:rPr>
              <a:t> Олигосахаридный комплекс, содержащий уникальные сахара: КДО (кетодезоксиоктонат) и гептозы. Ковалентно соединяет липид А с терминальным антигеном.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О-специфический полисахарид:</a:t>
            </a:r>
            <a:r>
              <a:rPr sz="1400" b="0">
                <a:solidFill>
                  <a:srgbClr val="0F172A"/>
                </a:solidFill>
                <a:latin typeface="PT Sans"/>
              </a:rPr>
              <a:t> Повторяющиеся последовательности олигосахаридов (до 40 звеньев), экспонированные наружу клетки. Формирует О-антиген, используемый для серотипирования штаммов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Salmonella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E. coli</a:t>
            </a:r>
            <a:r>
              <a:rPr sz="1400" b="0">
                <a:solidFill>
                  <a:srgbClr val="0F172A"/>
                </a:solidFill>
                <a:latin typeface="PT Sans"/>
              </a:rPr>
              <a:t> O157:H7).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Биологическое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практическое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значение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ЛПС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Барьер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проницаемости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Плотная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упаковка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гидрофобных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цепей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липида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сочетании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полисахаридным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слоем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блокирует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проникновение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гидрофобных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антибиотиков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желчных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солей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дезинфектантов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Термостабильность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эндотоксинов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Эндотоксин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сохраняет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пирогенную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активность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после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стандартной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пастеризации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автоклавирования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требуя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температур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выше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180 - 250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град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. C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для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депирогенизации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Индукция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воспалительного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каскада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Распознается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рецепторами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TLR4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иммунной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системы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млекопитающих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вызывая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мощный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выброс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провоспалительных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цитокинов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лихорадку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септический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шок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3: МЕМБРАНА И КЛЕТОЧНАЯ СТЕНКА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18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Химизм дифференциальной окраски по Граму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Физико-химические основы дифференциации бактерий (Prescott, Fig. 2.17)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13_gram_staining_mechanism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1819"/>
          <a:stretch>
            <a:fillRect/>
          </a:stretch>
        </p:blipFill>
        <p:spPr>
          <a:xfrm>
            <a:off x="1983544" y="1561421"/>
            <a:ext cx="1728854" cy="45650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3.6. Поэтапный механизм дифференциальной окраски по Граму (Prescott's Microbiology, Fig. 2.17)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87201"/>
            <a:ext cx="6062003" cy="14850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Стадии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1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2: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Первичная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окраска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протрава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1. Обработка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кристаллическим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фиолетовым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все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окрашиваются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темно-фиолетовый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цвет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  <a:endParaRPr lang="en-US" sz="1400" b="0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 2. Обработка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раствором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Люголя (I₂/KI)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образование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крупного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нерастворимого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комплекса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комплекс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кристаллвиолет-йод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внутри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цитоплазмы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128288"/>
            <a:ext cx="5815818" cy="12695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Стадии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3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4: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Обесцвечивание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докраска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3.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Этанол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/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ацетон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грам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(+)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дегидратирует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толстый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пептидогликан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поры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сжимаются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краситель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удерживается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фиолетовые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грам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(-)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растворяет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липиды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внешней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краситель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вымывается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endParaRPr lang="en-US" sz="1400" b="0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4.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Сафранин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докрашивает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обесцвеченные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грам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(-)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розовый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цвет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4: ПОВЕРХНОСТНЫЕ 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19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Гликокаликс: капсулы и слизистые слои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Внеклеточные полимерные покровы и факторы вирулентности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14_capsule_slime_layer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72265" y="1645920"/>
            <a:ext cx="5706602" cy="2816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1604" y="4462272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4.1. Капсула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патогенной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бактерии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Bacillus anthracis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в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световом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микроскопе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(Prescott's Microbiology, Fig. 3.28)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145" y="4832604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Капсула (Capsule)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Четко очерченный, плотный слой полисахаридов (или полипептидов D-глутаминовой кислоты у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Bacillus anthracis</a:t>
            </a:r>
            <a:r>
              <a:rPr sz="1400" b="0">
                <a:solidFill>
                  <a:srgbClr val="0F172A"/>
                </a:solidFill>
                <a:latin typeface="PT Sans"/>
              </a:rPr>
              <a:t>), ковалентно связанный с клеточной стенкой. Предотвращает фагоцитоз макрофагами и высыхание клетки во внешней среде.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0129" y="4832604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Слизистый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слой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(Slime layer)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Рыхлая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диффузная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масса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полисахаридов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легко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отделяющаяся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Обеспечивает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первичное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прикрепление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клеток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гладким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абиотическим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субстратам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нержавеющая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сталь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пластик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содействует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скольжению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4: ПОВЕРХНОСТНЫЕ 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20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Фимбрии и пили: адгезия и конъюгация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Белковые филаменты клеточной поверхности и передача генов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15_pili_fimbriae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4494" y="1605653"/>
            <a:ext cx="5489889" cy="3956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1261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4.2.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Электронная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микрофотография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многочисленных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фимбрий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длинных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жгутиков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(Prescott's Microbiology, Fig. 3.37)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7420" y="189103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Фимбрии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(Fimbriae)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Короткие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тонкие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белковые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трубочки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1000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диаметр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3 - 10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состоящие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фимбрилина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Несут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дистальном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конце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адгезины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селективно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связывающиеся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рецепторами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клеток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хозяина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7420" y="3472609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Половые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пили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пили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IV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типа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  <a:latin typeface="PT Sans"/>
              </a:rPr>
              <a:t>F-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пили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половые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пили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)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длинные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трубки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(1-10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обеспечивающие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межклеточный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контакт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горизонтальном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переносе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плазмид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методом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конъюгации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Пили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IV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типа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осуществляют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дергающуюся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подвижность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(twitching motility).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4: ПОВЕРХНОСТНЫЕ 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21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Бактериальные биопленки: матрикс EPS и персистенция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Многоклеточный консорциум и механизмы фенотипической резистентности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Стадии онтогенеза биопленки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1. Обратимая адгезия: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Оседание планктонных клеток на поверхность под действием гидрофобных и электростатических сил Ван-дер-Ваальса.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2. Необратимое закрепление:</a:t>
            </a:r>
            <a:r>
              <a:rPr sz="1400" b="0">
                <a:solidFill>
                  <a:srgbClr val="0F172A"/>
                </a:solidFill>
                <a:latin typeface="PT Sans"/>
              </a:rPr>
              <a:t> Активация синтеза адгезинов, фимбрий и начальная секреция внеклеточных полисахаридов (EPS).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3. Созревание микроколоний:</a:t>
            </a:r>
            <a:r>
              <a:rPr sz="1400" b="0">
                <a:solidFill>
                  <a:srgbClr val="0F172A"/>
                </a:solidFill>
                <a:latin typeface="PT Sans"/>
              </a:rPr>
              <a:t> Формирование трехмерных колоний грибовидной формы с развитой сетью циркуляционных каналов для доставки воды и питательных веществ.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4. Дисперсия клеток:</a:t>
            </a:r>
            <a:r>
              <a:rPr sz="1400" b="0">
                <a:solidFill>
                  <a:srgbClr val="0F172A"/>
                </a:solidFill>
                <a:latin typeface="PT Sans"/>
              </a:rPr>
              <a:t> Ферментативный гидролиз матрикса и выход подвижных планктонных клеток для колонизации новых поверхностей.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Матрикс EPS и механизмы резистентности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Внеклеточный матрикс (EPS):</a:t>
            </a:r>
            <a:r>
              <a:rPr sz="1400" b="0">
                <a:solidFill>
                  <a:srgbClr val="0F172A"/>
                </a:solidFill>
                <a:latin typeface="PT Sans"/>
              </a:rPr>
              <a:t> Состоит из экзополисахаридов (альгинат, целлюлоза), внеклеточной ДНК (eDNA) и структурных белков; составляет до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85%</a:t>
            </a:r>
            <a:r>
              <a:rPr sz="1400" b="0">
                <a:solidFill>
                  <a:srgbClr val="0F172A"/>
                </a:solidFill>
                <a:latin typeface="PT Sans"/>
              </a:rPr>
              <a:t> объема биопленки.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Диффузионный барьер:</a:t>
            </a:r>
            <a:r>
              <a:rPr sz="1400" b="0">
                <a:solidFill>
                  <a:srgbClr val="0F172A"/>
                </a:solidFill>
                <a:latin typeface="PT Sans"/>
              </a:rPr>
              <a:t> Заряженный матрикс связывает и нейтрализует молекулы дезинфектантов (хлор, ЧАС), снижая их эффективную концентрацию на порядки.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Клетки-персисторы (Persisters):</a:t>
            </a:r>
            <a:r>
              <a:rPr sz="1400" b="0">
                <a:solidFill>
                  <a:srgbClr val="0F172A"/>
                </a:solidFill>
                <a:latin typeface="PT Sans"/>
              </a:rPr>
              <a:t> В глубинных слоях биопленки клетки находятся в гипометаболическом спящем состоянии, что делает их толерантными к биоцидам и теплу в 100-1000 раз.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4: ПОВЕРХНОСТНЫЕ 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22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Жгутики и типы жгутикования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Спиральные филаменты и топология распределения по клетке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16_flagella_distribution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71671" y="1527368"/>
            <a:ext cx="7970137" cy="29308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932" y="4488252"/>
            <a:ext cx="10908792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4.3.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Топологические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варианты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расположения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жгутиков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у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бактерий</a:t>
            </a:r>
            <a:endParaRPr sz="1150" b="0" dirty="0">
              <a:solidFill>
                <a:srgbClr val="475569"/>
              </a:solidFill>
              <a:latin typeface="PT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7267" y="4866712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Топология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жгутикования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  <a:latin typeface="PT Sans"/>
              </a:rPr>
              <a:t>Монотрих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единственный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полярный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жгутик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Pseudomonas aeruginosa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Лофотрих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пучок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жгутиков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одном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полюсе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Pseudomonas fluorescens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Амфитрих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жгутики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обоих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противоположных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полюсах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Перитрих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жгутики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распределены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всей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поверхности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E. coli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Salmonella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4252" y="4955198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Строение филамента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Жгутик - полая жесткая спиральная нить диаметром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20 нм</a:t>
            </a:r>
            <a:r>
              <a:rPr sz="1400" b="0">
                <a:solidFill>
                  <a:srgbClr val="0F172A"/>
                </a:solidFill>
                <a:latin typeface="PT Sans"/>
              </a:rPr>
              <a:t> и длиной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15 - 20 мкм</a:t>
            </a:r>
            <a:r>
              <a:rPr sz="1400" b="0">
                <a:solidFill>
                  <a:srgbClr val="0F172A"/>
                </a:solidFill>
                <a:latin typeface="PT Sans"/>
              </a:rPr>
              <a:t>, собранная из тысяч субъединиц глобулярного белка </a:t>
            </a:r>
            <a:r>
              <a:rPr sz="1400" b="1">
                <a:solidFill>
                  <a:srgbClr val="0F172A"/>
                </a:solidFill>
                <a:latin typeface="PT Sans"/>
              </a:rPr>
              <a:t>флагеллина</a:t>
            </a:r>
            <a:r>
              <a:rPr sz="1400" b="0">
                <a:solidFill>
                  <a:srgbClr val="0F172A"/>
                </a:solidFill>
                <a:latin typeface="PT Sans"/>
              </a:rPr>
              <a:t> (Н-антиген). Рост филамента происходит с дистального конца.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4: ПОВЕРХНОСТНЫЕ 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23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Молекулярный мотор жгутика и протон-движущая сила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Роторный наномотор и трансмембранный градиент </a:t>
            </a:r>
            <a:r>
              <a:rPr sz="1350" b="0" i="1">
                <a:solidFill>
                  <a:srgbClr val="475569"/>
                </a:solidFill>
                <a:latin typeface="PT Sans"/>
              </a:rPr>
              <a:t>\Deltaмк_{H^+}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17_flagellar_motor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9751"/>
          <a:stretch>
            <a:fillRect/>
          </a:stretch>
        </p:blipFill>
        <p:spPr>
          <a:xfrm>
            <a:off x="2434856" y="1601089"/>
            <a:ext cx="6327171" cy="30208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701032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4.4. Ультраструктура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базального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тела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роторного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комплекса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жгутика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(Prescott's Microbiology, Fig. 3.39)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06" y="4929632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Базальное тело (Ротор и статор)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Состоит из центрального стержня и коаксиальных колец: кольца L (липополисахарид) и P (пептидогликан) служат подшипниками; кольца MS и C образуют ротор в мембране. Статор сформирован белками MotA и MotB, образующими протонный канал.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5190" y="4929632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Энергетика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вращения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Вращение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требует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гидролиза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АТФ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напрямую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;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оно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приводится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действие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протон-движущей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силой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(PMF)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потоком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протонов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H^+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через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канал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MotA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/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MotB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Мотор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способен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вращаться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скоростью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1000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/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переключая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направление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вращения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4: ПОВЕРХНОСТНЫЕ 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24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Механизм бактериального хемотаксиса: пробеги и кувыркания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Случайное блуждание с направленным дрейфом вдоль градиента аттрактанта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18_chemotaxis_run_tumble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2960" y="1682496"/>
            <a:ext cx="4663440" cy="43279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4.5. Траектория движения бактерии: чередование пробегов и кувырканий (Prescott's Microbiology, Fig. 3.44)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1700784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Пробег (Run) vs Кувыркание (Tumble)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Вращение жгутиков </a:t>
            </a:r>
            <a:r>
              <a:rPr sz="1400" b="1">
                <a:solidFill>
                  <a:srgbClr val="0F172A"/>
                </a:solidFill>
                <a:latin typeface="PT Sans"/>
              </a:rPr>
              <a:t>против часовой стрелки (CCW)</a:t>
            </a:r>
            <a:r>
              <a:rPr sz="1400" b="0">
                <a:solidFill>
                  <a:srgbClr val="0F172A"/>
                </a:solidFill>
                <a:latin typeface="PT Sans"/>
              </a:rPr>
              <a:t> собирает их в единый пучок, продвигая клетку вперед по прямой линии (пробег). Переключение вращения </a:t>
            </a:r>
            <a:r>
              <a:rPr sz="1400" b="1">
                <a:solidFill>
                  <a:srgbClr val="0F172A"/>
                </a:solidFill>
                <a:latin typeface="PT Sans"/>
              </a:rPr>
              <a:t>по часовой стрелке (CW)</a:t>
            </a:r>
            <a:r>
              <a:rPr sz="1400" b="0">
                <a:solidFill>
                  <a:srgbClr val="0F172A"/>
                </a:solidFill>
                <a:latin typeface="PT Sans"/>
              </a:rPr>
              <a:t> распускает пучок, приводя к хаотическому переориентированию клетки на месте (кувыркание).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Хемосенсорный каскад MCP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Метил-акцепторные белки хемотаксиса (MCP) измеряют изменение концентрации аттрактанта во времени. При движении вверх по градиенту питательного вещества длительность пробегов удлиняется, а частота кувырканий снижается.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5: ЦИТОПЛАЗМА И ЭНДОСПОРЫ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25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Цитоплазматические структуры и нуклеоид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Организация генома, суперскрученность и белковый синтез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Бактериальный нуклеоид и плазмиды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Топология хромосомы: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Двухцепочечная кольцевая ДНК длиной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1 - 1.5 мм</a:t>
            </a:r>
            <a:r>
              <a:rPr sz="1400" b="0">
                <a:solidFill>
                  <a:srgbClr val="0F172A"/>
                </a:solidFill>
                <a:latin typeface="PT Sans"/>
              </a:rPr>
              <a:t>, компактно упакованная в нуклеоид с помощью суперскручивания ферментами ДНК-гиразой и топоизомеразой IV.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Белки NAPs:</a:t>
            </a:r>
            <a:r>
              <a:rPr sz="1400" b="0">
                <a:solidFill>
                  <a:srgbClr val="0F172A"/>
                </a:solidFill>
                <a:latin typeface="PT Sans"/>
              </a:rPr>
              <a:t> Нуклеоид-ассоциированные белки (HU, H-NS, Fis) организуют ДНК в изолированные топологические петли без формирования нуклеосом.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Плазмидный пул:</a:t>
            </a:r>
            <a:r>
              <a:rPr sz="1400" b="0">
                <a:solidFill>
                  <a:srgbClr val="0F172A"/>
                </a:solidFill>
                <a:latin typeface="PT Sans"/>
              </a:rPr>
              <a:t> Внехромосомные кольцевые ДНК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1 - 200 т.п.н.</a:t>
            </a:r>
            <a:r>
              <a:rPr sz="1400" b="0">
                <a:solidFill>
                  <a:srgbClr val="0F172A"/>
                </a:solidFill>
                <a:latin typeface="PT Sans"/>
              </a:rPr>
              <a:t>), автономно реплицирующиеся и несущие гены резистентности к антибиотикам (R-плазмиды), токсинов или утилизации сахаров.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Трансляционный аппарат: 70S рибосомы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Субъединицы рибосомы: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Коэффициент седиментации 70S; состоит из малой субъединицы 30S (16S рРНК + 21 белок) и большой субъединицы 50S (23S рРНК, 5S рРНК + 31 белок).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Сопряжение транскрипции и трансляции:</a:t>
            </a:r>
            <a:r>
              <a:rPr sz="1400" b="0">
                <a:solidFill>
                  <a:srgbClr val="0F172A"/>
                </a:solidFill>
                <a:latin typeface="PT Sans"/>
              </a:rPr>
              <a:t> Ввиду отсутствия ядерной мембраны рибосомы начинают трансляцию мРНК одновременно с её синтезом РНК-полимеразой (полисомы).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Фармакологическая селективность:</a:t>
            </a:r>
            <a:r>
              <a:rPr sz="1400" b="0">
                <a:solidFill>
                  <a:srgbClr val="0F172A"/>
                </a:solidFill>
                <a:latin typeface="PT Sans"/>
              </a:rPr>
              <a:t> Структурные различия между 70S бактерий и 80S эукариот позволяют антибиотикам селективно ингибировать микробный синтез белка.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5: ЦИТОПЛАЗМА И ЭНДОСПОРЫ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26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Внутриклеточные включения и метаболические запасы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Резервные полимеры и специализированные микрокомпартменты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Резервные энергетические полимеры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Гликоген и крахмал:</a:t>
            </a:r>
            <a:r>
              <a:rPr sz="1400" b="0">
                <a:solidFill>
                  <a:srgbClr val="0F172A"/>
                </a:solidFill>
                <a:latin typeface="PT Sans"/>
              </a:rPr>
              <a:t> Полимеры глюкозы с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альфа--1,4</a:t>
            </a:r>
            <a:r>
              <a:rPr sz="1400" b="0">
                <a:solidFill>
                  <a:srgbClr val="0F172A"/>
                </a:solidFill>
                <a:latin typeface="PT Sans"/>
              </a:rPr>
              <a:t>-связями, формирующие осмотически инертные гранулы запаса углерода и энергии в условиях избытка субстрата.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Полигидроксибутират (PHB):</a:t>
            </a:r>
            <a:r>
              <a:rPr sz="1400" b="0">
                <a:solidFill>
                  <a:srgbClr val="0F172A"/>
                </a:solidFill>
                <a:latin typeface="PT Sans"/>
              </a:rPr>
              <a:t> Липидоподобный биоразлагаемый полимер эфиров оксимасляной кислоты, аккумулируемый при дефиците азота или фосфора.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Гранулы волютина (Полифосфаты):</a:t>
            </a:r>
            <a:r>
              <a:rPr sz="1400" b="0">
                <a:solidFill>
                  <a:srgbClr val="0F172A"/>
                </a:solidFill>
                <a:latin typeface="PT Sans"/>
              </a:rPr>
              <a:t> Линейные полимеры неорганического ортофосфата (метахроматические гранулы), служащие депо фосфора для синтеза нуклеиновых кислот и АТФ.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Функциональные компартменты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Карбоксисомы: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Белковые полиэдрические микрокомпартменты цианобактерий, содержащие фермент РуБисКО и карбоангидразу для фиксации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CO_2</a:t>
            </a:r>
            <a:r>
              <a:rPr sz="1400" b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Газовые вакуоли:</a:t>
            </a:r>
            <a:r>
              <a:rPr sz="1400" b="0">
                <a:solidFill>
                  <a:srgbClr val="0F172A"/>
                </a:solidFill>
                <a:latin typeface="PT Sans"/>
              </a:rPr>
              <a:t> Белковые цилиндрические везикулы, непроницаемые для воды, но проницаемые для газов; регулируют плавучесть водных бактерий.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Магнетосомы:</a:t>
            </a:r>
            <a:r>
              <a:rPr sz="1400" b="0">
                <a:solidFill>
                  <a:srgbClr val="0F172A"/>
                </a:solidFill>
                <a:latin typeface="PT Sans"/>
              </a:rPr>
              <a:t> Цепочки кристаллов магнетита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Fe_3O_4</a:t>
            </a:r>
            <a:r>
              <a:rPr sz="1400" b="0">
                <a:solidFill>
                  <a:srgbClr val="0F172A"/>
                </a:solidFill>
                <a:latin typeface="PT Sans"/>
              </a:rPr>
              <a:t>), заключенные в липидную оболочку; ориентируют клетку вдоль геомагнитного поля Земли.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5: ЦИТОПЛАЗМА И ЭНДОСПОРЫ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27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Строение и устойчивость бактериальной эндоспоры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Многослойная архитектура покоящихся форм родов Bacillus и Clostridium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19_endospore_ultrastructure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1378" y="1682496"/>
            <a:ext cx="4606603" cy="43708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5.1. Ультраструктурные слои бактериальной эндоспоры (Prescott's Microbiology, Fig. 3.45)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4262" y="2016252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Сердцевина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(Core)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дипиколинат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кальция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Содержит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геном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рибосомы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цитоплазму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экстремально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низкой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гидратацией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10 - 25%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Высокая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концентрация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дипиколината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кальция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(Ca-DPA)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15%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сухого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веса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SASPs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малые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кислоторастворимые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связывают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стабилизируют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ДНК.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Кортекс, оболочка и экзоспориум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T Sans"/>
              </a:rPr>
              <a:t>Кортекс</a:t>
            </a:r>
            <a:r>
              <a:rPr sz="1400" b="0">
                <a:solidFill>
                  <a:srgbClr val="0F172A"/>
                </a:solidFill>
                <a:latin typeface="PT Sans"/>
              </a:rPr>
              <a:t>: модифицированный пептидогликан низкой плотности с мурамовым лактамом, поддерживающий дегидратацию сердцевины. </a:t>
            </a:r>
            <a:r>
              <a:rPr sz="1400" b="1">
                <a:solidFill>
                  <a:srgbClr val="0F172A"/>
                </a:solidFill>
                <a:latin typeface="PT Sans"/>
              </a:rPr>
              <a:t>Споровая оболочка (Coat)</a:t>
            </a:r>
            <a:r>
              <a:rPr sz="1400" b="0">
                <a:solidFill>
                  <a:srgbClr val="0F172A"/>
                </a:solidFill>
                <a:latin typeface="PT Sans"/>
              </a:rPr>
              <a:t>: многослойный белковый панцирь с дисульфидными сшивками, защищающий от лизоцима и ферментов.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5: ЦИТОПЛАЗМА И ЭНДОСПОРЫ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28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Динамика спорообразования (спорогенез)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Генетически запрограммированные стадии I-VII трансформации клетки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20_endospore_formation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15110"/>
          <a:stretch>
            <a:fillRect/>
          </a:stretch>
        </p:blipFill>
        <p:spPr>
          <a:xfrm>
            <a:off x="721468" y="1672825"/>
            <a:ext cx="5535424" cy="43072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257473"/>
            <a:ext cx="569820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5.2.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Стадии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спорообразования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у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бактерий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рода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Bacillus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8280" y="1984248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Стадии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I-III: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Асимметричное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деление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При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истощении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нутриентов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углерода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азота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реплицированная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ДНК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образует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осевую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нить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(I).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Клеточная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перегородка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закладывается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асимметрично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(II).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Материнская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поглощает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предспору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окружая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ее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двойным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липидным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слоем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(III).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6892" y="4050838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Стадии IV-VII: Созревание и лизис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Синтез пептидогликанового кортекса между двумя мембранами (IV). Формирование белковой споровой оболочки, синтез Ca-DPA и дегидратация (V). Завершение созревания терморезистентности (VI). Ферментативный лизис материнской клетки и выход свободной споры (VII).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5: ЦИТОПЛАЗМА И ЭНДОСПОРЫ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29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Термическая инактивация спор: параметры </a:t>
            </a:r>
            <a:r>
              <a:rPr sz="2400" b="1" i="1">
                <a:solidFill>
                  <a:srgbClr val="0F172A"/>
                </a:solidFill>
                <a:latin typeface="PT Sans"/>
              </a:rPr>
              <a:t>D</a:t>
            </a:r>
            <a:r>
              <a:rPr sz="1800" b="1" baseline="-25000">
                <a:solidFill>
                  <a:srgbClr val="0F172A"/>
                </a:solidFill>
                <a:latin typeface="PT Sans"/>
              </a:rPr>
              <a:t>T</a:t>
            </a:r>
            <a:r>
              <a:rPr sz="2400" b="1">
                <a:solidFill>
                  <a:srgbClr val="0F172A"/>
                </a:solidFill>
                <a:latin typeface="PT Sans"/>
              </a:rPr>
              <a:t> и </a:t>
            </a:r>
            <a:r>
              <a:rPr sz="2400" b="1" i="1">
                <a:solidFill>
                  <a:srgbClr val="0F172A"/>
                </a:solidFill>
                <a:latin typeface="PT Sans"/>
              </a:rPr>
              <a:t>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Кинетика логарифмической гибели спор и расчет тепловой стерилизации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3718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Величина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i="1" dirty="0">
                <a:solidFill>
                  <a:srgbClr val="0F172A"/>
                </a:solidFill>
                <a:latin typeface="PT Sans"/>
              </a:rPr>
              <a:t>D</a:t>
            </a:r>
            <a:r>
              <a:rPr sz="1237" b="1" baseline="-25000" dirty="0">
                <a:solidFill>
                  <a:srgbClr val="0F172A"/>
                </a:solidFill>
                <a:latin typeface="PT Sans"/>
              </a:rPr>
              <a:t>T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(Decimal Reduction Time)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Определение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величины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D: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Время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выдержки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минутах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заданной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постоянной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температуре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T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необходимое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для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снижения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жизнеспособной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популяции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спор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один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десятичный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порядок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90%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погибших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клеток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Математическое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выражение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D</a:t>
            </a:r>
            <a:r>
              <a:rPr sz="1050" b="0" baseline="-25000" dirty="0">
                <a:solidFill>
                  <a:srgbClr val="0F172A"/>
                </a:solidFill>
                <a:latin typeface="PT Sans"/>
              </a:rPr>
              <a:t>T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log</a:t>
            </a:r>
            <a:r>
              <a:rPr sz="1400" b="0" baseline="-25000" dirty="0">
                <a:solidFill>
                  <a:srgbClr val="0F172A"/>
                </a:solidFill>
                <a:latin typeface="PT Sans"/>
              </a:rPr>
              <a:t>10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(N</a:t>
            </a:r>
            <a:r>
              <a:rPr sz="1400" b="0" baseline="-25000" dirty="0">
                <a:solidFill>
                  <a:srgbClr val="0F172A"/>
                </a:solidFill>
                <a:latin typeface="PT Sans"/>
              </a:rPr>
              <a:t>0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/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N</a:t>
            </a:r>
            <a:r>
              <a:rPr sz="1400" b="0" baseline="-25000" dirty="0" err="1">
                <a:solidFill>
                  <a:srgbClr val="0F172A"/>
                </a:solidFill>
                <a:latin typeface="PT Sans"/>
              </a:rPr>
              <a:t>t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= t 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где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N</a:t>
            </a:r>
            <a:r>
              <a:rPr sz="1400" b="0" i="1" baseline="-25000" dirty="0">
                <a:solidFill>
                  <a:srgbClr val="0F172A"/>
                </a:solidFill>
                <a:latin typeface="PT Sans"/>
              </a:rPr>
              <a:t>0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начальная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микробная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обсемененность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N</a:t>
            </a:r>
            <a:r>
              <a:rPr sz="1400" b="0" i="1" baseline="-25000" dirty="0" err="1">
                <a:solidFill>
                  <a:srgbClr val="0F172A"/>
                </a:solidFill>
                <a:latin typeface="PT Sans"/>
              </a:rPr>
              <a:t>t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конечная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выжившая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популяция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время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t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Пример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референтного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патогена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Для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термостойких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спор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Clostridium botulinum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температуре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121.1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град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величина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D</a:t>
            </a:r>
            <a:r>
              <a:rPr sz="1050" b="0" baseline="-25000" dirty="0">
                <a:solidFill>
                  <a:srgbClr val="0F172A"/>
                </a:solidFill>
                <a:latin typeface="PT Sans"/>
              </a:rPr>
              <a:t>121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lang="en-US" sz="1400" b="0" dirty="0">
                <a:solidFill>
                  <a:srgbClr val="0F172A"/>
                </a:solidFill>
                <a:latin typeface="PT Sans"/>
              </a:rPr>
              <a:t>~ 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0.2мин.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Концепция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12D-стерилизации: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консервной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промышленности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стандартом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является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режим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12D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термообработка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снижающая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вероятность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выживания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спор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10</a:t>
            </a:r>
            <a:r>
              <a:rPr lang="en-US" sz="1400" b="0" baseline="30000" dirty="0">
                <a:solidFill>
                  <a:srgbClr val="0F172A"/>
                </a:solidFill>
                <a:latin typeface="PT Sans"/>
              </a:rPr>
              <a:t>-12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275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Температурный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коэффициент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i="1" dirty="0">
                <a:solidFill>
                  <a:srgbClr val="0F172A"/>
                </a:solidFill>
                <a:latin typeface="PT Sans"/>
              </a:rPr>
              <a:t>z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Определение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величины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z: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Число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градусов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град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. C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которое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необходимо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повысить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температуру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процесса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чтобы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сократить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значение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D</a:t>
            </a:r>
            <a:r>
              <a:rPr sz="1050" b="0" baseline="-25000" dirty="0">
                <a:solidFill>
                  <a:srgbClr val="0F172A"/>
                </a:solidFill>
                <a:latin typeface="PT Sans"/>
              </a:rPr>
              <a:t>T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ровно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10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раз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Стерилизующий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эффект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F</a:t>
            </a:r>
            <a:r>
              <a:rPr lang="en-US" sz="1400" b="1" baseline="-25000" dirty="0">
                <a:solidFill>
                  <a:srgbClr val="0F172A"/>
                </a:solidFill>
                <a:latin typeface="PT Sans"/>
              </a:rPr>
              <a:t>0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Эквивалентное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время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термической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обработки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минутах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базисной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температуре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121.1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град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. C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10.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Практическое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значение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Знание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D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z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позволяет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проектировать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режимы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стерилизации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гарантирующие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микробиологическую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безопасность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переваривания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продукта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6: ФИЗИОЛОГИЯ РОСТА И ФАКТОРЫ 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30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Кинетика роста периодической культуры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Четыре канонические фазы роста замкнутой микробной популяции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Лаг-фаза и экспоненциальный рост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Лаг-фаза (Период адаптации):</a:t>
            </a:r>
            <a:r>
              <a:rPr sz="1400" b="0">
                <a:solidFill>
                  <a:srgbClr val="0F172A"/>
                </a:solidFill>
                <a:latin typeface="PT Sans"/>
              </a:rPr>
              <a:t> Число клеток не увеличивается; происходит индукция ферментных систем, синтез РНК, рибосом и коферментов для утилизации питательных веществ новой среды.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Экспоненциальная фаза (Лог-фаза):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Клетки делятся с максимальной постоянной удельной скоростью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мк</a:t>
            </a:r>
            <a:r>
              <a:rPr sz="1400" b="0">
                <a:solidFill>
                  <a:srgbClr val="0F172A"/>
                </a:solidFill>
                <a:latin typeface="PT Sans"/>
              </a:rPr>
              <a:t>. Биомасса и число клеток удваиваются через постоянный интервал времени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g</a:t>
            </a:r>
            <a:r>
              <a:rPr sz="1400" b="0">
                <a:solidFill>
                  <a:srgbClr val="0F172A"/>
                </a:solidFill>
                <a:latin typeface="PT Sans"/>
              </a:rPr>
              <a:t> (время генерации).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Физиологическая однородность:</a:t>
            </a:r>
            <a:r>
              <a:rPr sz="1400" b="0">
                <a:solidFill>
                  <a:srgbClr val="0F172A"/>
                </a:solidFill>
                <a:latin typeface="PT Sans"/>
              </a:rPr>
              <a:t> В лог-фазе бактерии обладают максимальной метаболической активностью и наиболее чувствительны к антибиотикам и химическим агентам.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Стационарная фаза и отмирание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Стационарная фаза:</a:t>
            </a:r>
            <a:r>
              <a:rPr sz="1400" b="0">
                <a:solidFill>
                  <a:srgbClr val="0F172A"/>
                </a:solidFill>
                <a:latin typeface="PT Sans"/>
              </a:rPr>
              <a:t> Скорость деления клеток уравновешивается скоростью их гибели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dX/dt = 0</a:t>
            </a:r>
            <a:r>
              <a:rPr sz="1400" b="0">
                <a:solidFill>
                  <a:srgbClr val="0F172A"/>
                </a:solidFill>
                <a:latin typeface="PT Sans"/>
              </a:rPr>
              <a:t>). Причины: исчерпание ключевого нутриента, накопление токсичных метаболитов, закисление среды.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Фаза отмирания (Лизис):</a:t>
            </a:r>
            <a:r>
              <a:rPr sz="1400" b="0">
                <a:solidFill>
                  <a:srgbClr val="0F172A"/>
                </a:solidFill>
                <a:latin typeface="PT Sans"/>
              </a:rPr>
              <a:t> Число жизнеспособных клеток экспоненциально снижается. Накапливаются автолитические ферменты; у спорообразующих видов индуцируется спорогенез.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Субпопуляции персисторов:</a:t>
            </a:r>
            <a:r>
              <a:rPr sz="1400" b="0">
                <a:solidFill>
                  <a:srgbClr val="0F172A"/>
                </a:solidFill>
                <a:latin typeface="PT Sans"/>
              </a:rPr>
              <a:t> Часть клеток переходит в некультивируемое состояние (VBNC), сохраняя потенциальную способность к реверсии при восстановлении условий.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6: ФИЗИОЛОГИЯ РОСТА И ФАКТОРЫ 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31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Температурные адаптации микроорганизмов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Психрофилы, психротрофы, мезофилы и термофилы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Температурные группы микроорганизмов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Психрофилы: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Облигатно холодолюбивые виды; оптимум роста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 &lt;=  15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, максимум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 &lt;=  20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, минимум ниже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0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. Обитают в полярных водах и ледниках.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Психротрофы (Психротолерантные):</a:t>
            </a:r>
            <a:r>
              <a:rPr sz="1400" b="0">
                <a:solidFill>
                  <a:srgbClr val="0F172A"/>
                </a:solidFill>
                <a:latin typeface="PT Sans"/>
              </a:rPr>
              <a:t> Мезофилы, способные расти при температурах бытового холодильника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0 - 7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), имея оптимум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20 - 30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Listeria monocytogenes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Pseudomonas</a:t>
            </a:r>
            <a:r>
              <a:rPr sz="1400" b="0">
                <a:solidFill>
                  <a:srgbClr val="0F172A"/>
                </a:solidFill>
                <a:latin typeface="PT Sans"/>
              </a:rPr>
              <a:t>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Мезофилы: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Оптимум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25 - 40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, диапазон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10 - 45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. Включают большинство комменсалов человека и кишечных патогенов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Salmonella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E. coli</a:t>
            </a:r>
            <a:r>
              <a:rPr sz="1400" b="0">
                <a:solidFill>
                  <a:srgbClr val="0F172A"/>
                </a:solidFill>
                <a:latin typeface="PT Sans"/>
              </a:rPr>
              <a:t>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Термофилы и гипертермофилы:</a:t>
            </a:r>
            <a:r>
              <a:rPr sz="1400" b="0">
                <a:solidFill>
                  <a:srgbClr val="0F172A"/>
                </a:solidFill>
                <a:latin typeface="PT Sans"/>
              </a:rPr>
              <a:t> Термофилы: оптимум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55 - 65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. Гипертермофильные археи: оптимум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80 - 105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 (гидротермальные источники).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25391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Молекулярные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механизмы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термоадаптации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Белковая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стабильность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Ферменты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термофилов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стабилизированы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повышенным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числом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дисульфидных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мостиков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солевых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мостиков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гидрофобных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контактов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ядра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Мембранная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текучесть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Психротрофы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поддерживают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функциональное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жидкое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состояние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счет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ненасыщенных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жирных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кислот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разветвленной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цепью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Кардинальные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температурные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точки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Каждый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вид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характеризуется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тремя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точками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T</a:t>
            </a:r>
            <a:r>
              <a:rPr sz="1400" b="0" i="1" baseline="-25000" dirty="0" err="1">
                <a:solidFill>
                  <a:srgbClr val="0F172A"/>
                </a:solidFill>
                <a:latin typeface="PT Sans"/>
              </a:rPr>
              <a:t>min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затвердевание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T</a:t>
            </a:r>
            <a:r>
              <a:rPr sz="1400" b="0" i="1" baseline="-25000" dirty="0" err="1">
                <a:solidFill>
                  <a:srgbClr val="0F172A"/>
                </a:solidFill>
                <a:latin typeface="PT Sans"/>
              </a:rPr>
              <a:t>opt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максимум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мк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T</a:t>
            </a:r>
            <a:r>
              <a:rPr sz="1400" b="0" i="1" baseline="-25000" dirty="0" err="1">
                <a:solidFill>
                  <a:srgbClr val="0F172A"/>
                </a:solidFill>
                <a:latin typeface="PT Sans"/>
              </a:rPr>
              <a:t>max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термоденатурация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6: ФИЗИОЛОГИЯ РОСТА И ФАКТОРЫ 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32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Активность воды (</a:t>
            </a:r>
            <a:r>
              <a:rPr sz="2400" b="1" i="1">
                <a:solidFill>
                  <a:srgbClr val="0F172A"/>
                </a:solidFill>
                <a:latin typeface="PT Sans"/>
              </a:rPr>
              <a:t>a</a:t>
            </a:r>
            <a:r>
              <a:rPr sz="1800" b="1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2400" b="1">
                <a:solidFill>
                  <a:srgbClr val="0F172A"/>
                </a:solidFill>
                <a:latin typeface="PT Sans"/>
              </a:rPr>
              <a:t>) и осмотический стресс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Термодинамический критерий доступности влаги и пределы роста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" y="1943978"/>
            <a:ext cx="4809744" cy="2970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Термодинамика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активности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воды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Определение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показателя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a</a:t>
            </a:r>
            <a:r>
              <a:rPr sz="1400" b="1" baseline="-25000" dirty="0">
                <a:solidFill>
                  <a:srgbClr val="0F172A"/>
                </a:solidFill>
                <a:latin typeface="PT Sans"/>
              </a:rPr>
              <a:t>w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Отношение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парциального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давления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водяного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пара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над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продуктом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p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давлению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пара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над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чистой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дистиллированной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водой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p</a:t>
            </a:r>
            <a:r>
              <a:rPr sz="1400" b="0" i="1" baseline="-25000" dirty="0">
                <a:solidFill>
                  <a:srgbClr val="0F172A"/>
                </a:solidFill>
                <a:latin typeface="PT Sans"/>
              </a:rPr>
              <a:t>0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равной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температуре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 dirty="0">
                <a:solidFill>
                  <a:srgbClr val="0F172A"/>
                </a:solidFill>
                <a:latin typeface="PT Sans"/>
              </a:rPr>
              <a:t>w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= p / p</a:t>
            </a:r>
            <a:r>
              <a:rPr sz="1400" b="0" baseline="-25000" dirty="0">
                <a:solidFill>
                  <a:srgbClr val="0F172A"/>
                </a:solidFill>
                <a:latin typeface="PT Sans"/>
              </a:rPr>
              <a:t>0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Осмотическое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давление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Снижение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 dirty="0">
                <a:solidFill>
                  <a:srgbClr val="0F172A"/>
                </a:solidFill>
                <a:latin typeface="PT Sans"/>
              </a:rPr>
              <a:t>w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растворением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сахаров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солей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приводит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оттоку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воды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через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аквапорины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плазмолизу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цитоплазмы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остановке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метаболизма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Осмопротекторы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Галотолерантные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бактерии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накапливают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совместимые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растворенные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вещества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бетаин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пролин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трегалозу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предотвращая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обезвоживание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Минимальные критические пороги </a:t>
            </a:r>
            <a:r>
              <a:rPr sz="1650" b="1" i="1">
                <a:solidFill>
                  <a:srgbClr val="0F172A"/>
                </a:solidFill>
                <a:latin typeface="PT Sans"/>
              </a:rPr>
              <a:t>a</a:t>
            </a:r>
            <a:r>
              <a:rPr sz="1237" b="1" i="1" baseline="-25000">
                <a:solidFill>
                  <a:srgbClr val="0F172A"/>
                </a:solidFill>
                <a:latin typeface="PT Sans"/>
              </a:rPr>
              <a:t>w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Грамотрицательные бактерии:</a:t>
            </a:r>
            <a:r>
              <a:rPr sz="1400" b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 &gt;=  0.95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Pseudomonas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E. coli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Salmonella</a:t>
            </a:r>
            <a:r>
              <a:rPr sz="1400" b="0">
                <a:solidFill>
                  <a:srgbClr val="0F172A"/>
                </a:solidFill>
                <a:latin typeface="PT Sans"/>
              </a:rPr>
              <a:t> требуют высокой доступности свободной воды).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Грамположительные палочки:</a:t>
            </a:r>
            <a:r>
              <a:rPr sz="1400" b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 &gt;=  0.93 (спорообразующие бациллы и клостридии прекращают рост при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&lt; 0.93).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Золотистый стафилококк:</a:t>
            </a:r>
            <a:r>
              <a:rPr sz="1400" b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 &gt;=  0.86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Staphylococcus aureus</a:t>
            </a:r>
            <a:r>
              <a:rPr sz="1400" b="0">
                <a:solidFill>
                  <a:srgbClr val="0F172A"/>
                </a:solidFill>
                <a:latin typeface="PT Sans"/>
              </a:rPr>
              <a:t> - наиболее галотолерантный патоген, размножается в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10% NaCl</a:t>
            </a:r>
            <a:r>
              <a:rPr sz="1400" b="0">
                <a:solidFill>
                  <a:srgbClr val="0F172A"/>
                </a:solidFill>
                <a:latin typeface="PT Sans"/>
              </a:rPr>
              <a:t>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Дрожжи и плесени:</a:t>
            </a:r>
            <a:r>
              <a:rPr sz="1400" b="0">
                <a:solidFill>
                  <a:srgbClr val="0F172A"/>
                </a:solidFill>
                <a:latin typeface="PT Sans"/>
              </a:rPr>
              <a:t> Обычные дрожжи: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 &gt;=  0.88; плесени: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 &gt;=  0.80. Осмофильные дрожжи и ксерофильные плесени растут при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 &gt;=  0.60 - 0.65.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6: ФИЗИОЛОГИЯ РОСТА И ФАКТОРЫ 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33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Влияние pH и кислородные потребности микроорганизмов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Ионный гомеостаз и типы энергетического метаболизма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25391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Классификация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по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оптимуму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pH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Нейтрофилы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Оптимум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pH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6.0 - 8.0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Включают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большинство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патогенных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бактерий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Поддерживают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нейтральный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цитоплазматический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pH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счет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протонных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насосов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Ацидофилы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Оптимум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pH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1.0 - 5.5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Молочнокислые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уксуснокислые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бактерии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многие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плесневые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грибы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дрожжи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толерантны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высоким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концентрациям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ионов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H^+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Алкалифилы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Оптимум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pH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8.5 - 11.5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Обитают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содовых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озерах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карбонатных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почвах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;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используют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натриевый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потенциал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Deltaмк</a:t>
            </a:r>
            <a:r>
              <a:rPr sz="1400" b="0" i="1" baseline="-25000" dirty="0" err="1">
                <a:solidFill>
                  <a:srgbClr val="0F172A"/>
                </a:solidFill>
                <a:latin typeface="PT Sans"/>
              </a:rPr>
              <a:t>Na</a:t>
            </a:r>
            <a:r>
              <a:rPr sz="1400" b="0" i="1" baseline="-25000" dirty="0">
                <a:solidFill>
                  <a:srgbClr val="0F172A"/>
                </a:solidFill>
                <a:latin typeface="PT Sans"/>
              </a:rPr>
              <a:t>+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для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транспорта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3288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Отношение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к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молекулярному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кислороду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Облигатные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аэробы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Требуют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O</a:t>
            </a:r>
            <a:r>
              <a:rPr sz="1400" b="0" i="1" baseline="-25000" dirty="0">
                <a:solidFill>
                  <a:srgbClr val="0F172A"/>
                </a:solidFill>
                <a:latin typeface="PT Sans"/>
              </a:rPr>
              <a:t>2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как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конечный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акцептор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электронов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дыхательной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цепи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Pseudomonas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 Имеют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каталазу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супероксиддисмутазу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(СОД).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Факультативные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анаэробы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Используют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дыхание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присутствии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lang="en" sz="1400" i="1" dirty="0">
                <a:solidFill>
                  <a:srgbClr val="0F172A"/>
                </a:solidFill>
                <a:latin typeface="PT Sans"/>
              </a:rPr>
              <a:t>O</a:t>
            </a:r>
            <a:r>
              <a:rPr lang="en" sz="1400" i="1" baseline="-25000" dirty="0">
                <a:solidFill>
                  <a:srgbClr val="0F172A"/>
                </a:solidFill>
                <a:latin typeface="PT Sans"/>
              </a:rPr>
              <a:t>2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переключаются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брожение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анаэробное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дыхание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Enterobacteriaceae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Облигатные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анаэробы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Кислород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токсичен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;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ферменты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защиты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отсутствуют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Clostridium botulinum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погибает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реактивных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форм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кислорода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Микроаэрофилы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Требуют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пониженную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концентрацию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кислорода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2 - 10% </a:t>
            </a:r>
            <a:r>
              <a:rPr lang="en" sz="1400" i="1" dirty="0">
                <a:solidFill>
                  <a:srgbClr val="0F172A"/>
                </a:solidFill>
                <a:latin typeface="PT Sans"/>
              </a:rPr>
              <a:t>O</a:t>
            </a:r>
            <a:r>
              <a:rPr lang="en" sz="1400" i="1" baseline="-25000" dirty="0">
                <a:solidFill>
                  <a:srgbClr val="0F172A"/>
                </a:solidFill>
                <a:latin typeface="PT Sans"/>
              </a:rPr>
              <a:t>2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повышенный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уровень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C</a:t>
            </a:r>
            <a:r>
              <a:rPr lang="en" sz="1400" i="1" dirty="0">
                <a:solidFill>
                  <a:srgbClr val="0F172A"/>
                </a:solidFill>
                <a:latin typeface="PT Sans"/>
              </a:rPr>
              <a:t>O</a:t>
            </a:r>
            <a:r>
              <a:rPr lang="en" sz="1400" i="1" baseline="-25000" dirty="0">
                <a:solidFill>
                  <a:srgbClr val="0F172A"/>
                </a:solidFill>
                <a:latin typeface="PT Sans"/>
              </a:rPr>
              <a:t>2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Campylobacter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jejuni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6: ФИЗИОЛОГИЯ РОСТА И ФАКТОРЫ 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34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Концепция барьерных технологий (Hurdle Technology)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Мультитаргетное синергетическое подавление микроорганизмов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Принцип синергетического барьера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Концепция Лайстнера: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Комбинирование нескольких умеренных консервирующих факторов вместо одного жесткого воздействия, разрушающего структуру и питательную ценность продукта.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Нарушение гомеостаза: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Каждый барьер воздействует на независимую мишень: мембрану, редокс-потенциал, синтез АТФ или активность ферментов.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Метаболическое истощение: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Клетка затрачивает всю доступную энергию на откачку протонов и удержание ионов, что приводит к метаболическому коллапсу и гибели.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Основные технологические барьеры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Температурный барьер (F / T):</a:t>
            </a:r>
            <a:r>
              <a:rPr sz="1400" b="0">
                <a:solidFill>
                  <a:srgbClr val="0F172A"/>
                </a:solidFill>
                <a:latin typeface="PT Sans"/>
              </a:rPr>
              <a:t> Пастеризация или охлаждение до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0 - 4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 замедляет ферментативные реакции в клетке.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Водный барьер (aw):</a:t>
            </a:r>
            <a:r>
              <a:rPr sz="1400" b="0">
                <a:solidFill>
                  <a:srgbClr val="0F172A"/>
                </a:solidFill>
                <a:latin typeface="PT Sans"/>
              </a:rPr>
              <a:t> Снижение свободной воды добавлением соли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NaCl</a:t>
            </a:r>
            <a:r>
              <a:rPr sz="1400" b="0">
                <a:solidFill>
                  <a:srgbClr val="0F172A"/>
                </a:solidFill>
                <a:latin typeface="PT Sans"/>
              </a:rPr>
              <a:t>) или сахарозы вызывает осмотический стресс.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Кислотный барьер (pH):</a:t>
            </a:r>
            <a:r>
              <a:rPr sz="1400" b="0">
                <a:solidFill>
                  <a:srgbClr val="0F172A"/>
                </a:solidFill>
                <a:latin typeface="PT Sans"/>
              </a:rPr>
              <a:t> Органические кислоты (молочная, сорбиновая) проникают через мембрану в недиссоциированной форме, закисляя цитоплазму.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Газовая среда (Eh):</a:t>
            </a:r>
            <a:r>
              <a:rPr sz="1400" b="0">
                <a:solidFill>
                  <a:srgbClr val="0F172A"/>
                </a:solidFill>
                <a:latin typeface="PT Sans"/>
              </a:rPr>
              <a:t> Модифицированная газовая атмосфера (МГС) с повышенным содержанием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CO_2</a:t>
            </a:r>
            <a:r>
              <a:rPr sz="1400" b="0">
                <a:solidFill>
                  <a:srgbClr val="0F172A"/>
                </a:solidFill>
                <a:latin typeface="PT Sans"/>
              </a:rPr>
              <a:t> 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N_2</a:t>
            </a:r>
            <a:r>
              <a:rPr sz="1400" b="0">
                <a:solidFill>
                  <a:srgbClr val="0F172A"/>
                </a:solidFill>
                <a:latin typeface="PT Sans"/>
              </a:rPr>
              <a:t> подавляет дыхание аэробов.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7: МОРФОЛОГИЯ И БИОЛОГИЯ ГРИБОВ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35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Дрожжи: клеточная организация и вегетативное почкование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Морфология одноклеточных микромицетов и рубцы почкования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21_yeast_budding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106" r="16959"/>
          <a:stretch>
            <a:fillRect/>
          </a:stretch>
        </p:blipFill>
        <p:spPr>
          <a:xfrm>
            <a:off x="1107552" y="1673655"/>
            <a:ext cx="4470288" cy="40117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91261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7.1. Электронная микрофотография почкующихся дрожжей Saccharomyces cerevisiae и рубцов почкования (Prescott's Microbiology, Fig. 24.9a)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1700784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Организация клетки Saccharomyces cerevisiae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Одноклеточные эукариоты овальной формы размером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5 - 10 мкм</a:t>
            </a:r>
            <a:r>
              <a:rPr sz="1400" b="0">
                <a:solidFill>
                  <a:srgbClr val="0F172A"/>
                </a:solidFill>
                <a:latin typeface="PT Sans"/>
              </a:rPr>
              <a:t>. Клеточная стенка толщиной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100 - 200 нм</a:t>
            </a:r>
            <a:r>
              <a:rPr sz="1400" b="0">
                <a:solidFill>
                  <a:srgbClr val="0F172A"/>
                </a:solidFill>
                <a:latin typeface="PT Sans"/>
              </a:rPr>
              <a:t> состоит из сети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бета-</a:t>
            </a:r>
            <a:r>
              <a:rPr sz="1400" b="0">
                <a:solidFill>
                  <a:srgbClr val="0F172A"/>
                </a:solidFill>
                <a:latin typeface="PT Sans"/>
              </a:rPr>
              <a:t>-глюканов, маннопротеинов и хитина. В цитоплазме имеется ядро, вакуоль, митохондрии и липидные капли.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Механизм вегетативного почкования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Материнская клетка локально размягчает клеточную стенку; дочерняя почка увеличивается, туда мигрирует реплицированное ядро. После цитокинеза синтезируется хитиновый септальный слой, оставляющий постоянный </a:t>
            </a:r>
            <a:r>
              <a:rPr sz="1400" b="1">
                <a:solidFill>
                  <a:srgbClr val="0F172A"/>
                </a:solidFill>
                <a:latin typeface="PT Sans"/>
              </a:rPr>
              <a:t>рубец почкования (bud scar)</a:t>
            </a:r>
            <a:r>
              <a:rPr sz="1400" b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7: МОРФОЛОГИЯ И БИОЛОГИЯ ГРИБОВ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36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Физиология и метаболизм сахаромицетов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 dirty="0" err="1">
                <a:solidFill>
                  <a:srgbClr val="475569"/>
                </a:solidFill>
                <a:latin typeface="PT Sans"/>
              </a:rPr>
              <a:t>Спиртовое</a:t>
            </a:r>
            <a:r>
              <a:rPr sz="13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PT Sans"/>
              </a:rPr>
              <a:t>брожение</a:t>
            </a:r>
            <a:r>
              <a:rPr sz="1350" b="0" dirty="0">
                <a:solidFill>
                  <a:srgbClr val="475569"/>
                </a:solidFill>
                <a:latin typeface="PT Sans"/>
              </a:rPr>
              <a:t>, </a:t>
            </a:r>
            <a:r>
              <a:rPr sz="1350" b="0" dirty="0" err="1">
                <a:solidFill>
                  <a:srgbClr val="475569"/>
                </a:solidFill>
                <a:latin typeface="PT Sans"/>
              </a:rPr>
              <a:t>эффект</a:t>
            </a:r>
            <a:r>
              <a:rPr sz="1350" b="0" dirty="0">
                <a:solidFill>
                  <a:srgbClr val="475569"/>
                </a:solidFill>
                <a:latin typeface="PT Sans"/>
              </a:rPr>
              <a:t> Пастера </a:t>
            </a:r>
            <a:r>
              <a:rPr sz="1350" b="0" dirty="0" err="1">
                <a:solidFill>
                  <a:srgbClr val="475569"/>
                </a:solidFill>
                <a:latin typeface="PT Sans"/>
              </a:rPr>
              <a:t>и</a:t>
            </a:r>
            <a:r>
              <a:rPr sz="13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PT Sans"/>
              </a:rPr>
              <a:t>микроорганизмы</a:t>
            </a:r>
            <a:r>
              <a:rPr sz="13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PT Sans"/>
              </a:rPr>
              <a:t>порчи</a:t>
            </a:r>
            <a:r>
              <a:rPr lang="ru-RU" sz="1350" b="0" dirty="0">
                <a:solidFill>
                  <a:srgbClr val="475569"/>
                </a:solidFill>
                <a:latin typeface="PT Sans"/>
              </a:rPr>
              <a:t> пищевых продуктов</a:t>
            </a:r>
            <a:endParaRPr sz="1350" b="0" dirty="0">
              <a:solidFill>
                <a:srgbClr val="475569"/>
              </a:solidFill>
              <a:latin typeface="PT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328" y="1755648"/>
            <a:ext cx="4809744" cy="273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endParaRPr b="0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b="0" dirty="0">
                <a:solidFill>
                  <a:srgbClr val="0F172A"/>
                </a:solidFill>
                <a:latin typeface="PT Sans"/>
              </a:rPr>
              <a:t>- </a:t>
            </a:r>
            <a:r>
              <a:rPr b="1" dirty="0" err="1">
                <a:solidFill>
                  <a:srgbClr val="0F172A"/>
                </a:solidFill>
                <a:latin typeface="PT Sans"/>
              </a:rPr>
              <a:t>Эффект</a:t>
            </a:r>
            <a:r>
              <a:rPr b="1" dirty="0">
                <a:solidFill>
                  <a:srgbClr val="0F172A"/>
                </a:solidFill>
                <a:latin typeface="PT Sans"/>
              </a:rPr>
              <a:t> </a:t>
            </a:r>
            <a:r>
              <a:rPr b="1" dirty="0" err="1">
                <a:solidFill>
                  <a:srgbClr val="0F172A"/>
                </a:solidFill>
                <a:latin typeface="PT Sans"/>
              </a:rPr>
              <a:t>Пастера</a:t>
            </a:r>
            <a:r>
              <a:rPr b="1" dirty="0">
                <a:solidFill>
                  <a:srgbClr val="0F172A"/>
                </a:solidFill>
                <a:latin typeface="PT Sans"/>
              </a:rPr>
              <a:t>: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присутствии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кислорода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спиртовое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брожение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подавляется</a:t>
            </a:r>
            <a:r>
              <a:rPr b="0" dirty="0">
                <a:solidFill>
                  <a:srgbClr val="0F172A"/>
                </a:solidFill>
                <a:latin typeface="PT Sans"/>
              </a:rPr>
              <a:t>;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клетка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переключается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полное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аэробное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окисление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более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высоким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выходом</a:t>
            </a:r>
            <a:r>
              <a:rPr b="0" dirty="0">
                <a:solidFill>
                  <a:srgbClr val="0F172A"/>
                </a:solidFill>
                <a:latin typeface="PT Sans"/>
              </a:rPr>
              <a:t> АТФ (</a:t>
            </a:r>
            <a:r>
              <a:rPr b="0" i="1" dirty="0">
                <a:solidFill>
                  <a:srgbClr val="0F172A"/>
                </a:solidFill>
                <a:latin typeface="PT Sans"/>
              </a:rPr>
              <a:t>36 - 38 АТФ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против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i="1" dirty="0">
                <a:solidFill>
                  <a:srgbClr val="0F172A"/>
                </a:solidFill>
                <a:latin typeface="PT Sans"/>
              </a:rPr>
              <a:t>2 АТФ</a:t>
            </a:r>
            <a:r>
              <a:rPr b="0" dirty="0">
                <a:solidFill>
                  <a:srgbClr val="0F172A"/>
                </a:solidFill>
                <a:latin typeface="PT Sans"/>
              </a:rPr>
              <a:t>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b="0" dirty="0">
                <a:solidFill>
                  <a:srgbClr val="0F172A"/>
                </a:solidFill>
                <a:latin typeface="PT Sans"/>
              </a:rPr>
              <a:t>- </a:t>
            </a:r>
            <a:r>
              <a:rPr b="1" dirty="0" err="1">
                <a:solidFill>
                  <a:srgbClr val="0F172A"/>
                </a:solidFill>
                <a:latin typeface="PT Sans"/>
              </a:rPr>
              <a:t>Эффект</a:t>
            </a:r>
            <a:r>
              <a:rPr b="1" dirty="0">
                <a:solidFill>
                  <a:srgbClr val="0F172A"/>
                </a:solidFill>
                <a:latin typeface="PT Sans"/>
              </a:rPr>
              <a:t> </a:t>
            </a:r>
            <a:r>
              <a:rPr b="1" dirty="0" err="1">
                <a:solidFill>
                  <a:srgbClr val="0F172A"/>
                </a:solidFill>
                <a:latin typeface="PT Sans"/>
              </a:rPr>
              <a:t>Крэбтри</a:t>
            </a:r>
            <a:r>
              <a:rPr b="1" dirty="0">
                <a:solidFill>
                  <a:srgbClr val="0F172A"/>
                </a:solidFill>
                <a:latin typeface="PT Sans"/>
              </a:rPr>
              <a:t>: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При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высокой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концентрации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глюкозы</a:t>
            </a:r>
            <a:r>
              <a:rPr b="0" dirty="0">
                <a:solidFill>
                  <a:srgbClr val="0F172A"/>
                </a:solidFill>
                <a:latin typeface="PT Sans"/>
              </a:rPr>
              <a:t> (</a:t>
            </a:r>
            <a:r>
              <a:rPr b="0" i="1" dirty="0">
                <a:solidFill>
                  <a:srgbClr val="0F172A"/>
                </a:solidFill>
                <a:latin typeface="PT Sans"/>
              </a:rPr>
              <a:t>&gt; 0.1 </a:t>
            </a:r>
            <a:r>
              <a:rPr b="0" i="1" dirty="0" err="1">
                <a:solidFill>
                  <a:srgbClr val="0F172A"/>
                </a:solidFill>
                <a:latin typeface="PT Sans"/>
              </a:rPr>
              <a:t>г</a:t>
            </a:r>
            <a:r>
              <a:rPr b="0" i="1" dirty="0">
                <a:solidFill>
                  <a:srgbClr val="0F172A"/>
                </a:solidFill>
                <a:latin typeface="PT Sans"/>
              </a:rPr>
              <a:t>/</a:t>
            </a:r>
            <a:r>
              <a:rPr b="0" i="1" dirty="0" err="1">
                <a:solidFill>
                  <a:srgbClr val="0F172A"/>
                </a:solidFill>
                <a:latin typeface="PT Sans"/>
              </a:rPr>
              <a:t>л</a:t>
            </a:r>
            <a:r>
              <a:rPr b="0" dirty="0">
                <a:solidFill>
                  <a:srgbClr val="0F172A"/>
                </a:solidFill>
                <a:latin typeface="PT Sans"/>
              </a:rPr>
              <a:t>)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дрожжи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сбраживают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сахара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этанол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даже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при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наличии</a:t>
            </a:r>
            <a:r>
              <a:rPr b="0" dirty="0">
                <a:solidFill>
                  <a:srgbClr val="0F172A"/>
                </a:solidFill>
                <a:latin typeface="PT Sans"/>
              </a:rPr>
              <a:t> </a:t>
            </a:r>
            <a:r>
              <a:rPr b="0" dirty="0" err="1">
                <a:solidFill>
                  <a:srgbClr val="0F172A"/>
                </a:solidFill>
                <a:latin typeface="PT Sans"/>
              </a:rPr>
              <a:t>кислорода</a:t>
            </a:r>
            <a:r>
              <a:rPr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2418" y="1783391"/>
            <a:ext cx="5047253" cy="35779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dirty="0">
                <a:solidFill>
                  <a:srgbClr val="0F172A"/>
                </a:solidFill>
                <a:latin typeface="PT Sans"/>
              </a:rPr>
              <a:t>Дрожжи </a:t>
            </a:r>
            <a:r>
              <a:rPr b="1" dirty="0" err="1">
                <a:solidFill>
                  <a:srgbClr val="0F172A"/>
                </a:solidFill>
                <a:latin typeface="PT Sans"/>
              </a:rPr>
              <a:t>как</a:t>
            </a:r>
            <a:r>
              <a:rPr b="1" dirty="0">
                <a:solidFill>
                  <a:srgbClr val="0F172A"/>
                </a:solidFill>
                <a:latin typeface="PT Sans"/>
              </a:rPr>
              <a:t> </a:t>
            </a:r>
            <a:r>
              <a:rPr lang="ru-RU" b="1" dirty="0">
                <a:solidFill>
                  <a:srgbClr val="0F172A"/>
                </a:solidFill>
                <a:latin typeface="PT Sans"/>
              </a:rPr>
              <a:t>причина</a:t>
            </a:r>
            <a:r>
              <a:rPr b="1" dirty="0">
                <a:solidFill>
                  <a:srgbClr val="0F172A"/>
                </a:solidFill>
                <a:latin typeface="PT Sans"/>
              </a:rPr>
              <a:t> </a:t>
            </a:r>
            <a:r>
              <a:rPr b="1" dirty="0" err="1">
                <a:solidFill>
                  <a:srgbClr val="0F172A"/>
                </a:solidFill>
                <a:latin typeface="PT Sans"/>
              </a:rPr>
              <a:t>порчи</a:t>
            </a:r>
            <a:r>
              <a:rPr lang="ru-RU" b="1" dirty="0">
                <a:solidFill>
                  <a:srgbClr val="0F172A"/>
                </a:solidFill>
                <a:latin typeface="PT Sans"/>
              </a:rPr>
              <a:t> пищевых продуктов</a:t>
            </a:r>
            <a:endParaRPr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6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600" b="1" dirty="0" err="1">
                <a:solidFill>
                  <a:srgbClr val="0F172A"/>
                </a:solidFill>
                <a:latin typeface="PT Sans"/>
              </a:rPr>
              <a:t>Осмофильные</a:t>
            </a:r>
            <a:r>
              <a:rPr sz="16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PT Sans"/>
              </a:rPr>
              <a:t>виды</a:t>
            </a:r>
            <a:r>
              <a:rPr sz="16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i="1" dirty="0">
                <a:solidFill>
                  <a:srgbClr val="0F172A"/>
                </a:solidFill>
                <a:latin typeface="PT Sans"/>
              </a:rPr>
              <a:t>Zygosaccharomyces </a:t>
            </a:r>
            <a:r>
              <a:rPr sz="1600" b="0" i="1" dirty="0" err="1">
                <a:solidFill>
                  <a:srgbClr val="0F172A"/>
                </a:solidFill>
                <a:latin typeface="PT Sans"/>
              </a:rPr>
              <a:t>bailii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i="1" dirty="0">
                <a:solidFill>
                  <a:srgbClr val="0F172A"/>
                </a:solidFill>
                <a:latin typeface="PT Sans"/>
              </a:rPr>
              <a:t>Z. </a:t>
            </a:r>
            <a:r>
              <a:rPr sz="1600" b="0" i="1" dirty="0" err="1">
                <a:solidFill>
                  <a:srgbClr val="0F172A"/>
                </a:solidFill>
                <a:latin typeface="PT Sans"/>
              </a:rPr>
              <a:t>rouxii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размножаются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при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низкой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активности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воды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600" b="0" i="1" dirty="0">
                <a:solidFill>
                  <a:srgbClr val="0F172A"/>
                </a:solidFill>
                <a:latin typeface="PT Sans"/>
              </a:rPr>
              <a:t>a</a:t>
            </a:r>
            <a:r>
              <a:rPr sz="1100" b="0" i="1" baseline="-25000" dirty="0">
                <a:solidFill>
                  <a:srgbClr val="0F172A"/>
                </a:solidFill>
                <a:latin typeface="PT Sans"/>
              </a:rPr>
              <a:t>w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 &gt;=  0.65),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сбраживая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концентраты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соков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меда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варенья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выделением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газа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6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600" b="1" dirty="0" err="1">
                <a:solidFill>
                  <a:srgbClr val="0F172A"/>
                </a:solidFill>
                <a:latin typeface="PT Sans"/>
              </a:rPr>
              <a:t>Пленочные</a:t>
            </a:r>
            <a:r>
              <a:rPr sz="16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PT Sans"/>
              </a:rPr>
              <a:t>дрожжи</a:t>
            </a:r>
            <a:r>
              <a:rPr sz="16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i="1" dirty="0">
                <a:solidFill>
                  <a:srgbClr val="0F172A"/>
                </a:solidFill>
                <a:latin typeface="PT Sans"/>
              </a:rPr>
              <a:t>Pichia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600" b="0" i="1" dirty="0">
                <a:solidFill>
                  <a:srgbClr val="0F172A"/>
                </a:solidFill>
                <a:latin typeface="PT Sans"/>
              </a:rPr>
              <a:t>Candida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600" b="0" i="1" dirty="0" err="1">
                <a:solidFill>
                  <a:srgbClr val="0F172A"/>
                </a:solidFill>
                <a:latin typeface="PT Sans"/>
              </a:rPr>
              <a:t>Hansenula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формируют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белесоватую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морщинистую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пленку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поверхности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ферментированных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рассолов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вина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окисляя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молочную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кислоту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этанол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6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600" b="1" dirty="0" err="1">
                <a:solidFill>
                  <a:srgbClr val="0F172A"/>
                </a:solidFill>
                <a:latin typeface="PT Sans"/>
              </a:rPr>
              <a:t>Газообразование</a:t>
            </a:r>
            <a:r>
              <a:rPr sz="16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PT Sans"/>
              </a:rPr>
              <a:t>бомбаж</a:t>
            </a:r>
            <a:r>
              <a:rPr sz="16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Сбраживание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сахаров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герметично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упакованных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продуктов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сопровождается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высоким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давлением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i="1" dirty="0">
                <a:solidFill>
                  <a:srgbClr val="0F172A"/>
                </a:solidFill>
                <a:latin typeface="PT Sans"/>
              </a:rPr>
              <a:t>CO</a:t>
            </a:r>
            <a:r>
              <a:rPr sz="1600" b="0" i="1" baseline="-25000" dirty="0">
                <a:solidFill>
                  <a:srgbClr val="0F172A"/>
                </a:solidFill>
                <a:latin typeface="PT Sans"/>
              </a:rPr>
              <a:t>2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вызывая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деформацию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разрыв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PT Sans"/>
              </a:rPr>
              <a:t>тары</a:t>
            </a:r>
            <a:r>
              <a:rPr sz="16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7: МОРФОЛОГИЯ И БИОЛОГИЯ ГРИБОВ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37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Мицелиальные грибы: строение гиф и мицелия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Септированные и ценоцитные гифы, апикальный рост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22_mold_hyphae_conidia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9905" y="1751076"/>
            <a:ext cx="11302978" cy="2641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1604" y="4690872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7.2.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Строение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ценоцитных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(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несептированных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)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септированных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гиф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плесневых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грибов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(Prescott's Microbiology, Fig. 24.2)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410" y="5194808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Архитектура гиф и мицелия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Вегетативное тело мицелиальных грибов состоит из ветвящихся нитей - </a:t>
            </a:r>
            <a:r>
              <a:rPr sz="1400" b="1">
                <a:solidFill>
                  <a:srgbClr val="0F172A"/>
                </a:solidFill>
                <a:latin typeface="PT Sans"/>
              </a:rPr>
              <a:t>гиф</a:t>
            </a:r>
            <a:r>
              <a:rPr sz="1400" b="0">
                <a:solidFill>
                  <a:srgbClr val="0F172A"/>
                </a:solidFill>
                <a:latin typeface="PT Sans"/>
              </a:rPr>
              <a:t> диаметром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2 - 10 мкм</a:t>
            </a:r>
            <a:r>
              <a:rPr sz="1400" b="0">
                <a:solidFill>
                  <a:srgbClr val="0F172A"/>
                </a:solidFill>
                <a:latin typeface="PT Sans"/>
              </a:rPr>
              <a:t>, образующих совокупную сеть - </a:t>
            </a:r>
            <a:r>
              <a:rPr sz="1400" b="1">
                <a:solidFill>
                  <a:srgbClr val="0F172A"/>
                </a:solidFill>
                <a:latin typeface="PT Sans"/>
              </a:rPr>
              <a:t>мицелий</a:t>
            </a:r>
            <a:r>
              <a:rPr sz="1400" b="0">
                <a:solidFill>
                  <a:srgbClr val="0F172A"/>
                </a:solidFill>
                <a:latin typeface="PT Sans"/>
              </a:rPr>
              <a:t>. Клеточная стенка состоит из хитина, целлюлозы и глюканов.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1394" y="5194808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Септированные и ценоцитные гифы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T Sans"/>
              </a:rPr>
              <a:t>Ценоцитные гифы</a:t>
            </a:r>
            <a:r>
              <a:rPr sz="1400" b="0">
                <a:solidFill>
                  <a:srgbClr val="0F172A"/>
                </a:solidFill>
                <a:latin typeface="PT Sans"/>
              </a:rPr>
              <a:t> (Мукоровые,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Rhizopus</a:t>
            </a:r>
            <a:r>
              <a:rPr sz="1400" b="0">
                <a:solidFill>
                  <a:srgbClr val="0F172A"/>
                </a:solidFill>
                <a:latin typeface="PT Sans"/>
              </a:rPr>
              <a:t>): перегородки отсутствуют, гифа представляет единую гигантскую многоядерную клетку. </a:t>
            </a:r>
            <a:r>
              <a:rPr sz="1400" b="1">
                <a:solidFill>
                  <a:srgbClr val="0F172A"/>
                </a:solidFill>
                <a:latin typeface="PT Sans"/>
              </a:rPr>
              <a:t>Септированные гифы</a:t>
            </a:r>
            <a:r>
              <a:rPr sz="1400" b="0">
                <a:solidFill>
                  <a:srgbClr val="0F172A"/>
                </a:solidFill>
                <a:latin typeface="PT Sans"/>
              </a:rPr>
              <a:t> (Аскомицеты,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Penicillium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Aspergillus</a:t>
            </a:r>
            <a:r>
              <a:rPr sz="1400" b="0">
                <a:solidFill>
                  <a:srgbClr val="0F172A"/>
                </a:solidFill>
                <a:latin typeface="PT Sans"/>
              </a:rPr>
              <a:t>): разделены поперечными септами с порами для тока цитоплазмы и органелл.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7: МОРФОЛОГИЯ И БИОЛОГИЯ ГРИБОВ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38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Спороношение и размножение микромицетов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Типы бесполых репродуктивных структур: конидии и спорангии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23_fungal_spores_diversity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0374" y="1881886"/>
            <a:ext cx="5899851" cy="3520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6458" y="5844441"/>
            <a:ext cx="5750938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7.3. Типы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бесполого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спороношения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грибов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: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артроконидии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,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спорангиоспоры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,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конидии</a:t>
            </a:r>
            <a:endParaRPr sz="1150" b="0" dirty="0">
              <a:solidFill>
                <a:srgbClr val="475569"/>
              </a:solidFill>
              <a:latin typeface="PT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13451" y="190474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Бесполые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экзогенные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споры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Конидии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Образуются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открыто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концах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специализированных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гиф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конидиеносцев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Penicillium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конидиеносец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кистевидный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мутовки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фиалид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несут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цепочки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конидий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Aspergillus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конидиеносец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заканчивается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вздутием-головкой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везикулой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радиальными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стеригмами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945725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Эндогенные споры (Спорангиоспоры)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У мукоровых грибов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Mucor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Rhizopus</a:t>
            </a:r>
            <a:r>
              <a:rPr sz="1400" b="0">
                <a:solidFill>
                  <a:srgbClr val="0F172A"/>
                </a:solidFill>
                <a:latin typeface="PT Sans"/>
              </a:rPr>
              <a:t>) споры формируются внутри замкнутого шаровидного резервуара - </a:t>
            </a:r>
            <a:r>
              <a:rPr sz="1400" b="1">
                <a:solidFill>
                  <a:srgbClr val="0F172A"/>
                </a:solidFill>
                <a:latin typeface="PT Sans"/>
              </a:rPr>
              <a:t>спорангия</a:t>
            </a:r>
            <a:r>
              <a:rPr sz="1400" b="0">
                <a:solidFill>
                  <a:srgbClr val="0F172A"/>
                </a:solidFill>
                <a:latin typeface="PT Sans"/>
              </a:rPr>
              <a:t> на верхушке спорангиеносца. При созревании оболочка лопается, рассеивая тысячи воздушных спор.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7: МОРФОЛОГИЯ И БИОЛОГИЯ ГРИБОВ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39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Микотоксины микромицетов и пищевая безопасность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Вторичные токсические метаболиты и их термостойкость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Ключевые группы микотоксинов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Афлатоксины (B1, B2, G1, G2, M1):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Продуценты: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Aspergillus flavus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A. parasiticus</a:t>
            </a:r>
            <a:r>
              <a:rPr sz="1400" b="0">
                <a:solidFill>
                  <a:srgbClr val="0F172A"/>
                </a:solidFill>
                <a:latin typeface="PT Sans"/>
              </a:rPr>
              <a:t>. Сильнейшие природные гепатоканцерогены и мутагены; поражают зерно, кукурузу, орехи.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Охратоксин А: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Продуценты: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Penicillium verrucosum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Aspergillus ochraceus</a:t>
            </a:r>
            <a:r>
              <a:rPr sz="1400" b="0">
                <a:solidFill>
                  <a:srgbClr val="0F172A"/>
                </a:solidFill>
                <a:latin typeface="PT Sans"/>
              </a:rPr>
              <a:t>. Обладает выраженной нефротоксичностью и тератогенностью; накапливается в злаках, кофе, винограде.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Патулин: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Продуцент: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Penicillium expansum</a:t>
            </a:r>
            <a:r>
              <a:rPr sz="1400" b="0">
                <a:solidFill>
                  <a:srgbClr val="0F172A"/>
                </a:solidFill>
                <a:latin typeface="PT Sans"/>
              </a:rPr>
              <a:t> («голубая гниль» яблок). Поражает плодово-ягодное сырье; ингибирует клеточное деление и иммунный ответ.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Фузариотоксины (Т-2, ДОН, Зеараленон):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Продуценты: род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Fusarium</a:t>
            </a:r>
            <a:r>
              <a:rPr sz="1400" b="0">
                <a:solidFill>
                  <a:srgbClr val="0F172A"/>
                </a:solidFill>
                <a:latin typeface="PT Sans"/>
              </a:rPr>
              <a:t>. Вызывают трихотеценовые токсикозы, поражение кроветворения и гормональные дисфункции.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2970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Физико-химические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свойства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контроль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Экстремальная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термостойкость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Микотоксины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представляют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собой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низкомолекулярные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соединения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разрушающиеся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варке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выпечке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пастеризации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автоклавировании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Независимость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от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мицелия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Фильтрация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удаление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видимого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мицелия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плесени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очищает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продукт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токсины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диффундируют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вглубь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матрицы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значительное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расстояние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Контаминация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сырья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Плесневение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кормов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сельскохозяйственных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животных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приводит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метаболической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секреции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гидроксилированного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афлатоксина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M</a:t>
            </a:r>
            <a:r>
              <a:rPr sz="1400" b="0" i="1" baseline="-25000" dirty="0">
                <a:solidFill>
                  <a:srgbClr val="0F172A"/>
                </a:solidFill>
                <a:latin typeface="PT Sans"/>
              </a:rPr>
              <a:t>1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коровье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молоко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8: ВИРУСЫ И БАКТЕРИОФАГИ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40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Природа вирусов: ультраструктура и симметрия вирионов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Облигатные ультрамикроскопические неклеточные паразиты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Архитектура простого и сложного вириона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Облигатный паразитизм:</a:t>
            </a:r>
            <a:r>
              <a:rPr sz="1400" b="0">
                <a:solidFill>
                  <a:srgbClr val="0F172A"/>
                </a:solidFill>
                <a:latin typeface="PT Sans"/>
              </a:rPr>
              <a:t> Вирусы лишены клеточного строения, рибосом и метаболизма; представляют собой автономный генетический материал в защитной белковой оболочке.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Нуклеокапсид: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Комплекс вирусной нуклеиновой кислоты (ДНК или РНК, одно- или двухцепочечной) и белкового футляра 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капсида</a:t>
            </a:r>
            <a:r>
              <a:rPr sz="1400" b="0">
                <a:solidFill>
                  <a:srgbClr val="0F172A"/>
                </a:solidFill>
                <a:latin typeface="PT Sans"/>
              </a:rPr>
              <a:t>, сложенного из капсомеров.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Суперкапсид (Оболочка):</a:t>
            </a:r>
            <a:r>
              <a:rPr sz="1400" b="0">
                <a:solidFill>
                  <a:srgbClr val="0F172A"/>
                </a:solidFill>
                <a:latin typeface="PT Sans"/>
              </a:rPr>
              <a:t> Сложные вирусы покрыты внешней мембраной из липидов клетки-хозяина со встроенными вирусными гликопротеиновыми шипами (пепломерами).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Типы симметрии капсида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Спиральная симметрия: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Капсомеры укладываются по спирали вокруг спирализованной нуклеиновой кислоты, образуя жесткий или гибкий цилиндр (вирус табачной мозаики).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Икосаэдрическая (Кубическая):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Правильный двадцатигранник (20 треугольных граней и 12 вершин); обеспечивает максимальный внутренний объем при минимальной площади белка.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Бинарная (Смешанная):</a:t>
            </a:r>
            <a:r>
              <a:rPr sz="1400" b="0">
                <a:solidFill>
                  <a:srgbClr val="0F172A"/>
                </a:solidFill>
                <a:latin typeface="PT Sans"/>
              </a:rPr>
              <a:t> Характерна для Т-четных бактериофагов: икосаэдрическая головка соединена со спиральным сократительным хвостовым чехлом.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6435</Words>
  <Application>Microsoft Macintosh PowerPoint</Application>
  <PresentationFormat>Широкоэкранный</PresentationFormat>
  <Paragraphs>450</Paragraphs>
  <Slides>40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5" baseType="lpstr">
      <vt:lpstr>Aptos</vt:lpstr>
      <vt:lpstr>Arial</vt:lpstr>
      <vt:lpstr>Calibri</vt:lpstr>
      <vt:lpstr>PT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Алексей Ярославцев</cp:lastModifiedBy>
  <cp:revision>6</cp:revision>
  <dcterms:created xsi:type="dcterms:W3CDTF">2013-01-27T09:14:16Z</dcterms:created>
  <dcterms:modified xsi:type="dcterms:W3CDTF">2026-09-07T02:34:58Z</dcterms:modified>
  <cp:category/>
</cp:coreProperties>
</file>