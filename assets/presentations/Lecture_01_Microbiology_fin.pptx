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492507-3A58-544E-914A-3B482F09EA3B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402333-CD62-9F4A-8933-C2335E467B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3504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02333-CD62-9F4A-8933-C2335E467B4B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2020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005840"/>
            <a:ext cx="10360152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50" b="1">
                <a:solidFill>
                  <a:srgbClr val="475569"/>
                </a:solidFill>
                <a:latin typeface="PT Sans"/>
              </a:defRPr>
            </a:pPr>
            <a:r>
              <a:t>РОССИЙСКИЙ УНИВЕРСИТЕТ ДРУЖБЫ НАРОДОВ (РУДН) - ИНЖЕНЕРНАЯ АКАДЕМИЯ</a:t>
            </a:r>
          </a:p>
          <a:p>
            <a:pPr>
              <a:defRPr sz="1300" b="1">
                <a:solidFill>
                  <a:srgbClr val="1E3A8A"/>
                </a:solidFill>
                <a:latin typeface="PT Sans"/>
              </a:defRPr>
            </a:pPr>
            <a:r>
              <a:t>КУРС «ПИЩЕВАЯ МИКРОБИОЛОГИЯ, САНИТАРИЯ И ГИГИЕНА»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737360"/>
            <a:ext cx="10360152" cy="25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60152" cy="1188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PT Sans"/>
              </a:rPr>
              <a:t>Морфология, анатомия и классификация микроорганизмов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60152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0">
                <a:solidFill>
                  <a:srgbClr val="475569"/>
                </a:solidFill>
                <a:latin typeface="PT Sans"/>
              </a:rPr>
              <a:t>Биологические основы микромира: ультраструктура бактерий, микромицетов и вирусов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663440"/>
            <a:ext cx="3291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5568" y="4773168"/>
            <a:ext cx="2889504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1E3A8A"/>
                </a:solidFill>
                <a:latin typeface="PT Sans"/>
              </a:defRPr>
            </a:pPr>
            <a:r>
              <a:t>КУРС И ДИСЦИПЛИНА</a:t>
            </a:r>
          </a:p>
          <a:p>
            <a:pPr>
              <a:defRPr sz="1100">
                <a:solidFill>
                  <a:srgbClr val="0F172A"/>
                </a:solidFill>
                <a:latin typeface="PT Sans"/>
              </a:defRPr>
            </a:pPr>
            <a:r>
              <a:t>«Пищевая микробиология, санитария и гигиена» - Лекция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43984" y="4663440"/>
            <a:ext cx="3291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45152" y="4773168"/>
            <a:ext cx="2889504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1E3A8A"/>
                </a:solidFill>
                <a:latin typeface="PT Sans"/>
              </a:defRPr>
            </a:pPr>
            <a:r>
              <a:t>АУДИТОРИЯ И ФОРМАТ</a:t>
            </a:r>
          </a:p>
          <a:p>
            <a:pPr>
              <a:defRPr sz="1100">
                <a:solidFill>
                  <a:srgbClr val="0F172A"/>
                </a:solidFill>
                <a:latin typeface="PT Sans"/>
              </a:defRPr>
            </a:pPr>
            <a:r>
              <a:t>Бакалавриат - 45 слайдов - Иллюстративный атлас ультраструктур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73568" y="4663440"/>
            <a:ext cx="3291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74736" y="4773168"/>
            <a:ext cx="2889504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1E3A8A"/>
                </a:solidFill>
                <a:latin typeface="PT Sans"/>
              </a:defRPr>
            </a:pPr>
            <a:r>
              <a:t>АКАДЕМИЧЕСКИЙ БАЗИС</a:t>
            </a:r>
          </a:p>
          <a:p>
            <a:pPr>
              <a:defRPr sz="1100">
                <a:solidFill>
                  <a:srgbClr val="0F172A"/>
                </a:solidFill>
                <a:latin typeface="PT Sans"/>
              </a:defRPr>
            </a:pPr>
            <a:r>
              <a:t>Кафедра стандартизации и управления качеством - РУДН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1: ВВЕДЕНИЕ В МИКРОБНЫЙ МИР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02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Определение микроорганизма и предмет микробиологии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Биологические критерии микроорганизмов и дифференциация дисциплин (Prescott, Ch. 1.1)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72768"/>
            <a:ext cx="5321808" cy="4873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755648"/>
            <a:ext cx="4809744" cy="4507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Биологическое определение микроорганизма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Критерий размера:</a:t>
            </a:r>
            <a:r>
              <a:rPr sz="1400" b="0">
                <a:solidFill>
                  <a:srgbClr val="0F172A"/>
                </a:solidFill>
                <a:latin typeface="PT Sans"/>
              </a:rPr>
              <a:t> Микроорганизмы - биологические объекты размером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 &lt;=  1 мм</a:t>
            </a:r>
            <a:r>
              <a:rPr sz="1400" b="0">
                <a:solidFill>
                  <a:srgbClr val="0F172A"/>
                </a:solidFill>
                <a:latin typeface="PT Sans"/>
              </a:rPr>
              <a:t>, микроскопически малые для невооруженного глаза человека и требующие микроскопии для исследования морфологии.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Отсутствие дифференцированных тканей:</a:t>
            </a:r>
            <a:r>
              <a:rPr sz="1400" b="0">
                <a:solidFill>
                  <a:srgbClr val="0F172A"/>
                </a:solidFill>
                <a:latin typeface="PT Sans"/>
              </a:rPr>
              <a:t> Фундаментальный признак микроорганизмов: в отличие от высших многоклеточных растений и животных, их клетки не образуют высокоспециализированных тканей и органов.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Клеточная автономность:</a:t>
            </a:r>
            <a:r>
              <a:rPr sz="1400" b="0">
                <a:solidFill>
                  <a:srgbClr val="0F172A"/>
                </a:solidFill>
                <a:latin typeface="PT Sans"/>
              </a:rPr>
              <a:t> Каждая вегетативная клетка способна самостоятельно осуществлять весь комплекс жизненных функций: метаболический обмен, поддержание гомеостаза, репликацию генома и деление.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572768"/>
            <a:ext cx="5321808" cy="4873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83096" y="1755648"/>
            <a:ext cx="4809744" cy="4507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Дисциплинарная структура микробиологии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Бактериология:</a:t>
            </a:r>
            <a:r>
              <a:rPr sz="1400" b="0">
                <a:solidFill>
                  <a:srgbClr val="0F172A"/>
                </a:solidFill>
                <a:latin typeface="PT Sans"/>
              </a:rPr>
              <a:t> Исследование прокариотических одноклеточных микроорганизмов - бактерий и архей, особенностей их строения, физиологии и биохимической активности.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Микология:</a:t>
            </a:r>
            <a:r>
              <a:rPr sz="1400" b="0">
                <a:solidFill>
                  <a:srgbClr val="0F172A"/>
                </a:solidFill>
                <a:latin typeface="PT Sans"/>
              </a:rPr>
              <a:t> Изучение микроскопических эукариотических грибов (микромицетов): одноклеточных дрожжей и нитчатых мицелиальных плесневых грибов.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Вирусология:</a:t>
            </a:r>
            <a:r>
              <a:rPr sz="1400" b="0">
                <a:solidFill>
                  <a:srgbClr val="0F172A"/>
                </a:solidFill>
                <a:latin typeface="PT Sans"/>
              </a:rPr>
              <a:t> Изучение облигатных внутриклеточных неклеточных инфекционных агентов - вирусов эукариот и бактериофагов, поражающих бактериальные клетки.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1: ВВЕДЕНИЕ В МИКРОБНЫЙ МИР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03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Глобальная численность и биосферная роль микроорганизмов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Планетарная биомасса 10</a:t>
            </a:r>
            <a:r>
              <a:rPr sz="1012" b="0" baseline="30000">
                <a:solidFill>
                  <a:srgbClr val="475569"/>
                </a:solidFill>
                <a:latin typeface="PT Sans"/>
              </a:rPr>
              <a:t>30</a:t>
            </a:r>
            <a:r>
              <a:rPr sz="1350" b="0">
                <a:solidFill>
                  <a:srgbClr val="475569"/>
                </a:solidFill>
                <a:latin typeface="PT Sans"/>
              </a:rPr>
              <a:t> клеток и фундаментальные биогеохимические циклы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pic>
        <p:nvPicPr>
          <p:cNvPr id="9" name="Picture 8" descr="fig_02_global_habit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82496"/>
            <a:ext cx="4663440" cy="35411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575737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0" dirty="0" err="1">
                <a:solidFill>
                  <a:srgbClr val="475569"/>
                </a:solidFill>
                <a:latin typeface="PT Sans"/>
              </a:rPr>
              <a:t>Рис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. 1.1.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Распределение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численности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бактерий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и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архей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в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глобальных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экосистемах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Земли (Prescott's Microbiology, Fig. 1.2)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63056" y="1931162"/>
            <a:ext cx="5166360" cy="20894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 dirty="0" err="1">
                <a:solidFill>
                  <a:srgbClr val="0F172A"/>
                </a:solidFill>
                <a:latin typeface="PT Sans"/>
              </a:rPr>
              <a:t>Глобальная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популяция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: 10</a:t>
            </a:r>
            <a:r>
              <a:rPr sz="1237" b="1" baseline="30000" dirty="0">
                <a:solidFill>
                  <a:srgbClr val="0F172A"/>
                </a:solidFill>
                <a:latin typeface="PT Sans"/>
              </a:rPr>
              <a:t>30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клеток</a:t>
            </a:r>
            <a:endParaRPr sz="1650" b="1" dirty="0">
              <a:solidFill>
                <a:srgbClr val="0F172A"/>
              </a:solidFill>
              <a:latin typeface="PT Sans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 dirty="0" err="1">
                <a:solidFill>
                  <a:srgbClr val="0F172A"/>
                </a:solidFill>
                <a:latin typeface="PT Sans"/>
              </a:rPr>
              <a:t>Микроорганизмы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представляют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доминирующую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форму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жизни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на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планете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составляя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более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половины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всей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биологической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массы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Земли.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Крупнейшие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резервуары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: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глубинные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океанические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осадки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(10</a:t>
            </a:r>
            <a:r>
              <a:rPr sz="1050" b="0" baseline="30000" dirty="0">
                <a:solidFill>
                  <a:srgbClr val="0F172A"/>
                </a:solidFill>
                <a:latin typeface="PT Sans"/>
              </a:rPr>
              <a:t>29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подземные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горизонты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литосферы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(10</a:t>
            </a:r>
            <a:r>
              <a:rPr sz="1050" b="0" baseline="30000" dirty="0">
                <a:solidFill>
                  <a:srgbClr val="0F172A"/>
                </a:solidFill>
                <a:latin typeface="PT Sans"/>
              </a:rPr>
              <a:t>29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почвы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(10</a:t>
            </a:r>
            <a:r>
              <a:rPr sz="1050" b="0" baseline="30000" dirty="0">
                <a:solidFill>
                  <a:srgbClr val="0F172A"/>
                </a:solidFill>
                <a:latin typeface="PT Sans"/>
              </a:rPr>
              <a:t>29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гидросфера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(10</a:t>
            </a:r>
            <a:r>
              <a:rPr sz="1050" b="0" baseline="30000" dirty="0">
                <a:solidFill>
                  <a:srgbClr val="0F172A"/>
                </a:solidFill>
                <a:latin typeface="PT Sans"/>
              </a:rPr>
              <a:t>29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63056" y="4229100"/>
            <a:ext cx="5166360" cy="11926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 dirty="0" err="1">
                <a:solidFill>
                  <a:srgbClr val="0F172A"/>
                </a:solidFill>
                <a:latin typeface="PT Sans"/>
              </a:rPr>
              <a:t>Биогеохимические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циклы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элементов</a:t>
            </a:r>
            <a:endParaRPr sz="1650" b="1" dirty="0">
              <a:solidFill>
                <a:srgbClr val="0F172A"/>
              </a:solidFill>
              <a:latin typeface="PT Sans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 dirty="0">
                <a:solidFill>
                  <a:srgbClr val="0F172A"/>
                </a:solidFill>
                <a:latin typeface="PT Sans"/>
              </a:rPr>
              <a:t>Микробиота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обеспечивает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непрерывный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круговорот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биогенных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элементов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: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биологическую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фиксацию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атмосферного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азота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N</a:t>
            </a:r>
            <a:r>
              <a:rPr sz="1400" b="0" i="1" baseline="-25000" dirty="0">
                <a:solidFill>
                  <a:srgbClr val="0F172A"/>
                </a:solidFill>
                <a:latin typeface="PT Sans"/>
              </a:rPr>
              <a:t>2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  -&gt;  NH</a:t>
            </a:r>
            <a:r>
              <a:rPr sz="1400" b="0" i="1" baseline="-25000" dirty="0">
                <a:solidFill>
                  <a:srgbClr val="0F172A"/>
                </a:solidFill>
                <a:latin typeface="PT Sans"/>
              </a:rPr>
              <a:t>3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минерализацию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органического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углерода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C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деструкцию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полимеров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трансформацию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соединений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фосфора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P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серы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S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1: ВВЕДЕНИЕ В МИКРОБНЫЙ МИР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04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Клеточные и неклеточные биологические сущности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Концептуальная классификация живых систем по ультраструктурной организации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pic>
        <p:nvPicPr>
          <p:cNvPr id="9" name="Picture 8" descr="fig_01_concept_map_microbes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22206" y="1503172"/>
            <a:ext cx="6800848" cy="331585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4801" y="4944565"/>
            <a:ext cx="4919472" cy="2075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 dirty="0">
                <a:solidFill>
                  <a:srgbClr val="0F172A"/>
                </a:solidFill>
                <a:latin typeface="PT Sans"/>
              </a:rPr>
              <a:t>Клеточные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организмы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(Cellular)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 dirty="0">
                <a:solidFill>
                  <a:srgbClr val="0F172A"/>
                </a:solidFill>
                <a:latin typeface="PT Sans"/>
              </a:rPr>
              <a:t>Ограничены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плазматической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мембраной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обладают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собственным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метаболизмом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аппаратом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трансляции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белка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на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рибосомах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.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Подразделяются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на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прокариот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Bacteria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, 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Archaea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микроскопических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эукариот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Fungi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-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дрожжи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плесени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, 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Protists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-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простейшие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одноклеточные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водоросли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8595" y="4859860"/>
            <a:ext cx="4919472" cy="2075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 dirty="0">
                <a:solidFill>
                  <a:srgbClr val="0F172A"/>
                </a:solidFill>
                <a:latin typeface="PT Sans"/>
              </a:rPr>
              <a:t>Неклеточные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агенты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(Acellular)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 dirty="0">
                <a:solidFill>
                  <a:srgbClr val="0F172A"/>
                </a:solidFill>
                <a:latin typeface="PT Sans"/>
              </a:rPr>
              <a:t>Лишены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собственной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метаболической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автономии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белоксинтезирующего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аппарата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: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Вирусы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нуклеиновая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кислота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белковом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капсиде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),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Вироиды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короткие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инфекционные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кольцевые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РНК),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Сателлиты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дефектные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агенты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Прионы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инфекционные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изоформы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белка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без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генома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1: ВВЕДЕНИЕ В МИКРОБНЫЙ МИР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05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Революция Карла Вёзе: трехдоменная система жизни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Молекулярная филогения на основе нуклеотидных последовательностей 16S/18S рРНК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pic>
        <p:nvPicPr>
          <p:cNvPr id="9" name="Picture 8" descr="fig_03_universal_tree_woese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20916" y="1682496"/>
            <a:ext cx="4067527" cy="43708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12648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0">
                <a:solidFill>
                  <a:srgbClr val="475569"/>
                </a:solidFill>
                <a:latin typeface="PT Sans"/>
              </a:rPr>
              <a:t>Рис. 1.3. Универсальное филогенетическое древо жизни Карла Вёзе на основе рРНК (Prescott's Microbiology, Fig. 1.3)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63056" y="1892808"/>
            <a:ext cx="5166360" cy="20894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 dirty="0">
                <a:solidFill>
                  <a:srgbClr val="0F172A"/>
                </a:solidFill>
                <a:latin typeface="PT Sans"/>
              </a:rPr>
              <a:t>Открытие Карла Вёзе (1977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г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.)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 dirty="0">
                <a:solidFill>
                  <a:srgbClr val="0F172A"/>
                </a:solidFill>
                <a:latin typeface="PT Sans"/>
              </a:rPr>
              <a:t>Вёзе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доказал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несостоятельность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морфологической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классификации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деления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на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два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царства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.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качестве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универсального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молекулярного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хронометра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была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использована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нуклеотидная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последовательность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малой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субъединицы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рибосомной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РНК (16S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рРНК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у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прокариот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, 18S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рРНК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у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эукариот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63056" y="4229100"/>
            <a:ext cx="5166360" cy="20894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Три первичных домена биосферы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PT Sans"/>
              </a:rPr>
              <a:t>Bacteria</a:t>
            </a:r>
            <a:r>
              <a:rPr sz="1400" b="0">
                <a:solidFill>
                  <a:srgbClr val="0F172A"/>
                </a:solidFill>
                <a:latin typeface="PT Sans"/>
              </a:rPr>
              <a:t> (истинные бактерии с пептидогликановой стенкой), </a:t>
            </a:r>
            <a:r>
              <a:rPr sz="1400" b="1">
                <a:solidFill>
                  <a:srgbClr val="0F172A"/>
                </a:solidFill>
                <a:latin typeface="PT Sans"/>
              </a:rPr>
              <a:t>Archaea</a:t>
            </a:r>
            <a:r>
              <a:rPr sz="1400" b="0">
                <a:solidFill>
                  <a:srgbClr val="0F172A"/>
                </a:solidFill>
                <a:latin typeface="PT Sans"/>
              </a:rPr>
              <a:t> (экстремофилы с эфирными изопреноидными липидами, филогенетически более близкие к эукариотам) и </a:t>
            </a:r>
            <a:r>
              <a:rPr sz="1400" b="1">
                <a:solidFill>
                  <a:srgbClr val="0F172A"/>
                </a:solidFill>
                <a:latin typeface="PT Sans"/>
              </a:rPr>
              <a:t>Eukarya</a:t>
            </a:r>
            <a:r>
              <a:rPr sz="1400" b="0">
                <a:solidFill>
                  <a:srgbClr val="0F172A"/>
                </a:solidFill>
                <a:latin typeface="PT Sans"/>
              </a:rPr>
              <a:t> (организмы с мембранным ядром и эндомембранными органеллами).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1: ВВЕДЕНИЕ В МИКРОБНЫЙ МИР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06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Сравнительная цитология: прокариоты и эукариоты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Принципиальные различия компартментализации и генетического аппарата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755648"/>
            <a:ext cx="4809744" cy="4507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50" b="1" dirty="0" err="1">
                <a:solidFill>
                  <a:srgbClr val="0F172A"/>
                </a:solidFill>
                <a:latin typeface="PT Sans"/>
              </a:rPr>
              <a:t>Прокариотическая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клетка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(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Бактерии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Археи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)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 dirty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Организация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генома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: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Ядерная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оболочка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отсутствует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;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замкнутая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кольцевая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молекула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двухцепочечной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ДНК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свободно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локализована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цитоплазме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форме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нуклеоида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не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связанного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гистонами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 dirty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Отсутствие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органелл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: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цитоплазме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отсутствуют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мембранные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органеллы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митохондрии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аппарат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Гольджи, ЭПР,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хлоропласты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);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процессы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дыхания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фотосинтеза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сопряжены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плазматической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мембраной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 dirty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Рибосомы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деление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: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Цитоплазматические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рибосомы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имеют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коэффициент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седиментации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70S (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субъединицы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50S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30S).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Деление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происходит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простым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бинарным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делением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без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образования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веретена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деления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3096" y="1755648"/>
            <a:ext cx="4809744" cy="4507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Эукариотическая клетка (Грибы, Растения, Животные)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Оформленное ядро:</a:t>
            </a:r>
            <a:r>
              <a:rPr sz="1400" b="0">
                <a:solidFill>
                  <a:srgbClr val="0F172A"/>
                </a:solidFill>
                <a:latin typeface="PT Sans"/>
              </a:rPr>
              <a:t> Геном представлен линейными хромосомами, упакованными гистоновыми белками и изолированными двухмембранной ядерной оболочкой с поровыми комплексами.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Развитый эндомембранный аппарат:</a:t>
            </a:r>
            <a:r>
              <a:rPr sz="1400" b="0">
                <a:solidFill>
                  <a:srgbClr val="0F172A"/>
                </a:solidFill>
                <a:latin typeface="PT Sans"/>
              </a:rPr>
              <a:t> Четкая компартментализация: синтез АТФ в митохондриях, синтез и транспорт полимеров в шероховатом и гладком ЭПР, модификация и сортировка в комплексе Гольджи.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Рибосомы и деление:</a:t>
            </a:r>
            <a:r>
              <a:rPr sz="1400" b="0">
                <a:solidFill>
                  <a:srgbClr val="0F172A"/>
                </a:solidFill>
                <a:latin typeface="PT Sans"/>
              </a:rPr>
              <a:t> Цитоплазматические рибосомы 80S (субъединицы 60S и 40S). Деление клетки осуществляется путем строго координированного митоза или мейоза с ахроматиновым веретеном.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1: ВВЕДЕНИЕ В МИКРОБНЫЙ МИР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07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Сравнительные масштабы объектов микромира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Пространственная иерархия от многоклеточных клеток до макромолекул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pic>
        <p:nvPicPr>
          <p:cNvPr id="9" name="Picture 8" descr="fig_04_scale_microbes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30715" y="1682496"/>
            <a:ext cx="4447929" cy="43708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12648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0">
                <a:solidFill>
                  <a:srgbClr val="475569"/>
                </a:solidFill>
                <a:latin typeface="PT Sans"/>
              </a:rPr>
              <a:t>Рис. 1.4. Размеры бактерий относительно эритроцита человека и вирусных частиц (Prescott's Microbiology, Fig. 3.3)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63056" y="1891030"/>
            <a:ext cx="5166360" cy="20894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Диапазоны клеточных размеров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Эукариотическая клетка (эритроцит человека) имеет диаметр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 ~  7 - 8 мкм</a:t>
            </a:r>
            <a:r>
              <a:rPr sz="1400" b="0">
                <a:solidFill>
                  <a:srgbClr val="0F172A"/>
                </a:solidFill>
                <a:latin typeface="PT Sans"/>
              </a:rPr>
              <a:t>. Типичная палочковидная бактерия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Escherichia coli</a:t>
            </a:r>
            <a:r>
              <a:rPr sz="1400" b="0">
                <a:solidFill>
                  <a:srgbClr val="0F172A"/>
                </a:solidFill>
                <a:latin typeface="PT Sans"/>
              </a:rPr>
              <a:t> составляет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1.3  x  4.0 мкм</a:t>
            </a:r>
            <a:r>
              <a:rPr sz="1400" b="0">
                <a:solidFill>
                  <a:srgbClr val="0F172A"/>
                </a:solidFill>
                <a:latin typeface="PT Sans"/>
              </a:rPr>
              <a:t>, а сферический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Staphylococcus aureus</a:t>
            </a:r>
            <a:r>
              <a:rPr sz="1400" b="0">
                <a:solidFill>
                  <a:srgbClr val="0F172A"/>
                </a:solidFill>
                <a:latin typeface="PT Sans"/>
              </a:rPr>
              <a:t> - около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1 мкм</a:t>
            </a:r>
            <a:r>
              <a:rPr sz="1400" b="0">
                <a:solidFill>
                  <a:srgbClr val="0F172A"/>
                </a:solidFill>
                <a:latin typeface="PT Sans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63056" y="3867912"/>
            <a:ext cx="5166360" cy="20894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 dirty="0" err="1">
                <a:solidFill>
                  <a:srgbClr val="0F172A"/>
                </a:solidFill>
                <a:latin typeface="PT Sans"/>
              </a:rPr>
              <a:t>Субмикроскопические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структуры</a:t>
            </a:r>
            <a:endParaRPr sz="1650" b="1" dirty="0">
              <a:solidFill>
                <a:srgbClr val="0F172A"/>
              </a:solidFill>
              <a:latin typeface="PT Sans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 dirty="0">
                <a:solidFill>
                  <a:srgbClr val="0F172A"/>
                </a:solidFill>
                <a:latin typeface="PT Sans"/>
              </a:rPr>
              <a:t>Крупные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вирусы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вирус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осповакцины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 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 ~  200 - 300 </a:t>
            </a:r>
            <a:r>
              <a:rPr sz="1400" b="0" i="1" dirty="0" err="1">
                <a:solidFill>
                  <a:srgbClr val="0F172A"/>
                </a:solidFill>
                <a:latin typeface="PT Sans"/>
              </a:rPr>
              <a:t>нм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бактериофаг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Т4 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 ~  100  x  220 </a:t>
            </a:r>
            <a:r>
              <a:rPr sz="1400" b="0" i="1" dirty="0" err="1">
                <a:solidFill>
                  <a:srgbClr val="0F172A"/>
                </a:solidFill>
                <a:latin typeface="PT Sans"/>
              </a:rPr>
              <a:t>нм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вирус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гриппа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 ~  100 </a:t>
            </a:r>
            <a:r>
              <a:rPr sz="1400" b="0" i="1" dirty="0" err="1">
                <a:solidFill>
                  <a:srgbClr val="0F172A"/>
                </a:solidFill>
                <a:latin typeface="PT Sans"/>
              </a:rPr>
              <a:t>нм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полиовирус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 ~  30 </a:t>
            </a:r>
            <a:r>
              <a:rPr sz="1400" b="0" i="1" dirty="0" err="1">
                <a:solidFill>
                  <a:srgbClr val="0F172A"/>
                </a:solidFill>
                <a:latin typeface="PT Sans"/>
              </a:rPr>
              <a:t>нм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рибосома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 ~  20 </a:t>
            </a:r>
            <a:r>
              <a:rPr sz="1400" b="0" i="1" dirty="0" err="1">
                <a:solidFill>
                  <a:srgbClr val="0F172A"/>
                </a:solidFill>
                <a:latin typeface="PT Sans"/>
              </a:rPr>
              <a:t>нм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толщина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билипидной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мембраны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 ~  4 - 5 </a:t>
            </a:r>
            <a:r>
              <a:rPr sz="1400" b="0" i="1" dirty="0" err="1">
                <a:solidFill>
                  <a:srgbClr val="0F172A"/>
                </a:solidFill>
                <a:latin typeface="PT Sans"/>
              </a:rPr>
              <a:t>нм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2: МОРФОЛОГИЯ И БИОФИЗИКА БАКТЕРИЙ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08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Основные морфологические формы бактерий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Кокки, палочки, извитые формы и типы клеточной агрегации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pic>
        <p:nvPicPr>
          <p:cNvPr id="9" name="Picture 8" descr="fig_05_bacterial_morphology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10321" y="1440122"/>
            <a:ext cx="7171358" cy="309631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4576572"/>
            <a:ext cx="1090879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0" dirty="0" err="1">
                <a:solidFill>
                  <a:srgbClr val="475569"/>
                </a:solidFill>
                <a:latin typeface="PT Sans"/>
              </a:rPr>
              <a:t>Рис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. 2.1. Основные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формы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бактериальных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клеток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и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взаимное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расположение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(Prescott's Microbiology, Fig. 3.1)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4297" y="4870137"/>
            <a:ext cx="4919472" cy="2075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 dirty="0">
                <a:solidFill>
                  <a:srgbClr val="0F172A"/>
                </a:solidFill>
                <a:latin typeface="PT Sans"/>
              </a:rPr>
              <a:t>Сферические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формы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(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Кокки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 dirty="0" err="1">
                <a:solidFill>
                  <a:srgbClr val="0F172A"/>
                </a:solidFill>
                <a:latin typeface="PT Sans"/>
              </a:rPr>
              <a:t>В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зависимости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плоскостей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деления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формируют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специфические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скопления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: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пары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-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диплококки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Streptococcus pneumoniae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цепочки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-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стрептококки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Streptococcus thermophilus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виноградные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гроздья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-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стафилококки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Staphylococcus aureus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пакеты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по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8-64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клетки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-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сарцины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870137"/>
            <a:ext cx="4919472" cy="2075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 dirty="0" err="1">
                <a:solidFill>
                  <a:srgbClr val="0F172A"/>
                </a:solidFill>
                <a:latin typeface="PT Sans"/>
              </a:rPr>
              <a:t>Палочковидные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извитые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формы</a:t>
            </a:r>
            <a:endParaRPr sz="1650" b="1" dirty="0">
              <a:solidFill>
                <a:srgbClr val="0F172A"/>
              </a:solidFill>
              <a:latin typeface="PT Sans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 dirty="0" err="1">
                <a:solidFill>
                  <a:srgbClr val="0F172A"/>
                </a:solidFill>
                <a:latin typeface="PT Sans"/>
              </a:rPr>
              <a:t>Палочки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бациллы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):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одиночные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дипло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-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или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стрептобациллы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Bacillus subtilis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Lactobacillus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). Извитые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формы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: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вибрионы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короткие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изогнутые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палочки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спириллы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жесткие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спирали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полярными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жгутиками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спирохеты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гибкие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спирали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эндожгутиками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2: МОРФОЛОГИЯ И БИОФИЗИКА БАКТЕРИЙ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09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Геометрия клетки и отношение поверхности к объему (S/V)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Математическая модель удельной площади поверхности как фактор метаболизма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pic>
        <p:nvPicPr>
          <p:cNvPr id="9" name="Picture 8" descr="fig_06_surface_to_volume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5516"/>
          <a:stretch>
            <a:fillRect/>
          </a:stretch>
        </p:blipFill>
        <p:spPr>
          <a:xfrm>
            <a:off x="1554607" y="1665842"/>
            <a:ext cx="8778113" cy="287566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5870" y="4707756"/>
            <a:ext cx="1090879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0">
                <a:solidFill>
                  <a:srgbClr val="475569"/>
                </a:solidFill>
                <a:latin typeface="PT Sans"/>
              </a:rPr>
              <a:t>Рис. 2.2. Зависимость отношения площади поверхности к объему от радиуса клетки (Prescott's Microbiology, Fig. 3.5)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8206" y="5040257"/>
            <a:ext cx="4919472" cy="11926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 dirty="0" err="1">
                <a:solidFill>
                  <a:srgbClr val="0F172A"/>
                </a:solidFill>
                <a:latin typeface="PT Sans"/>
              </a:rPr>
              <a:t>Математическая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закономерность</a:t>
            </a:r>
            <a:endParaRPr sz="1650" b="1" dirty="0">
              <a:solidFill>
                <a:srgbClr val="0F172A"/>
              </a:solidFill>
              <a:latin typeface="PT Sans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 dirty="0">
                <a:solidFill>
                  <a:srgbClr val="0F172A"/>
                </a:solidFill>
                <a:latin typeface="PT Sans"/>
              </a:rPr>
              <a:t>Для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сферической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клетки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радиуса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r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: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площадь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поверхности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S = 4pi r</a:t>
            </a:r>
            <a:r>
              <a:rPr sz="1400" b="0" i="1" baseline="30000" dirty="0">
                <a:solidFill>
                  <a:srgbClr val="0F172A"/>
                </a:solidFill>
                <a:latin typeface="PT Sans"/>
              </a:rPr>
              <a:t>2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объем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V = 4 / 3pi r</a:t>
            </a:r>
            <a:r>
              <a:rPr sz="1400" b="0" i="1" baseline="30000" dirty="0">
                <a:solidFill>
                  <a:srgbClr val="0F172A"/>
                </a:solidFill>
                <a:latin typeface="PT Sans"/>
              </a:rPr>
              <a:t>3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.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Отношение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S/V = 3 / r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. При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уменьшении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радиуса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клетки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5 </a:t>
            </a:r>
            <a:r>
              <a:rPr sz="1400" b="0" i="1" dirty="0" err="1">
                <a:solidFill>
                  <a:srgbClr val="0F172A"/>
                </a:solidFill>
                <a:latin typeface="PT Sans"/>
              </a:rPr>
              <a:t>мкм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до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1 </a:t>
            </a:r>
            <a:r>
              <a:rPr sz="1400" b="0" i="1" dirty="0" err="1">
                <a:solidFill>
                  <a:srgbClr val="0F172A"/>
                </a:solidFill>
                <a:latin typeface="PT Sans"/>
              </a:rPr>
              <a:t>мкм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удельная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поверхность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возрастает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5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раз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0.6 </a:t>
            </a:r>
            <a:r>
              <a:rPr sz="1400" b="0" i="1" dirty="0" err="1">
                <a:solidFill>
                  <a:srgbClr val="0F172A"/>
                </a:solidFill>
                <a:latin typeface="PT Sans"/>
              </a:rPr>
              <a:t>мкм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^{-1}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до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3.0 </a:t>
            </a:r>
            <a:r>
              <a:rPr sz="1400" b="0" i="1" dirty="0" err="1">
                <a:solidFill>
                  <a:srgbClr val="0F172A"/>
                </a:solidFill>
                <a:latin typeface="PT Sans"/>
              </a:rPr>
              <a:t>мкм</a:t>
            </a:r>
            <a:r>
              <a:rPr sz="1400" b="0" i="1" dirty="0">
                <a:solidFill>
                  <a:srgbClr val="0F172A"/>
                </a:solidFill>
                <a:latin typeface="PT Sans"/>
              </a:rPr>
              <a:t>^{-1}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5190" y="5040257"/>
            <a:ext cx="4919472" cy="2075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Биофизический вывод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Чем меньше объем клетки, тем большая площадь мембраны приходится на единицу цитоплазмы. Это обеспечивает максимальную скорость трансмембранного диффузионного транспорта нутриентов и экскреции метаболитов.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2: МОРФОЛОГИЯ И БИОФИЗИКА БАКТЕРИЙ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10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Биофизические преимущества малых размеров бактерий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Метаболический поток, скорость деления и адаптационный потенциал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755648"/>
            <a:ext cx="4809744" cy="4507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Кинетика мембранного переноса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Диффузионный транспорт:</a:t>
            </a:r>
            <a:r>
              <a:rPr sz="1400" b="0">
                <a:solidFill>
                  <a:srgbClr val="0F172A"/>
                </a:solidFill>
                <a:latin typeface="PT Sans"/>
              </a:rPr>
              <a:t> В клетке диаметром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1 мкм</a:t>
            </a:r>
            <a:r>
              <a:rPr sz="1400" b="0">
                <a:solidFill>
                  <a:srgbClr val="0F172A"/>
                </a:solidFill>
                <a:latin typeface="PT Sans"/>
              </a:rPr>
              <a:t> молекулы растворенных веществ диффундируют из окружающей среды в центр клетки за доли миллисекунды, устраняя необходимость во внутриклеточных транспортных везикулах.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Плотность транспортных белков:</a:t>
            </a:r>
            <a:r>
              <a:rPr sz="1400" b="0">
                <a:solidFill>
                  <a:srgbClr val="0F172A"/>
                </a:solidFill>
                <a:latin typeface="PT Sans"/>
              </a:rPr>
              <a:t> Колоссальное значение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S/V</a:t>
            </a:r>
            <a:r>
              <a:rPr sz="1400" b="0">
                <a:solidFill>
                  <a:srgbClr val="0F172A"/>
                </a:solidFill>
                <a:latin typeface="PT Sans"/>
              </a:rPr>
              <a:t> позволяет разместить высокую удельную концентрацию мембранных белков-переносчиков, пермеаз и протонных помп на единицу метаболизирующей массы.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Интенсивность дыхания:</a:t>
            </a:r>
            <a:r>
              <a:rPr sz="1400" b="0">
                <a:solidFill>
                  <a:srgbClr val="0F172A"/>
                </a:solidFill>
                <a:latin typeface="PT Sans"/>
              </a:rPr>
              <a:t> Удельная скорость потребления субстрата бактериальной клеткой на порядок превышает аналогичный показатель эукариотических клеток сходной биомассы.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3096" y="1755648"/>
            <a:ext cx="4809744" cy="4507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Скорость генерации и адаптивность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Экспоненциальное деление:</a:t>
            </a:r>
            <a:r>
              <a:rPr sz="1400" b="0">
                <a:solidFill>
                  <a:srgbClr val="0F172A"/>
                </a:solidFill>
                <a:latin typeface="PT Sans"/>
              </a:rPr>
              <a:t> Высокая удельная скорость метаболизма обеспечивает минимальное время генерации (удвоения популяции): в оптимальных условиях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E. coli</a:t>
            </a:r>
            <a:r>
              <a:rPr sz="1400" b="0">
                <a:solidFill>
                  <a:srgbClr val="0F172A"/>
                </a:solidFill>
                <a:latin typeface="PT Sans"/>
              </a:rPr>
              <a:t> делится каждые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20 минут</a:t>
            </a:r>
            <a:r>
              <a:rPr sz="1400" b="0">
                <a:solidFill>
                  <a:srgbClr val="0F172A"/>
                </a:solidFill>
                <a:latin typeface="PT Sans"/>
              </a:rPr>
              <a:t>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Быстрый синтез ферментов:</a:t>
            </a:r>
            <a:r>
              <a:rPr sz="1400" b="0">
                <a:solidFill>
                  <a:srgbClr val="0F172A"/>
                </a:solidFill>
                <a:latin typeface="PT Sans"/>
              </a:rPr>
              <a:t> Благодаря малому геному и транскрипционно-трансляционному сопряжению бактерия адаптирует экспрессию катаболических оперонов к смене субстрата за секунды.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Мутационная пластичность:</a:t>
            </a:r>
            <a:r>
              <a:rPr sz="1400" b="0">
                <a:solidFill>
                  <a:srgbClr val="0F172A"/>
                </a:solidFill>
                <a:latin typeface="PT Sans"/>
              </a:rPr>
              <a:t> Колоссальный размер популяций (10</a:t>
            </a:r>
            <a:r>
              <a:rPr sz="1050" b="0" baseline="30000">
                <a:solidFill>
                  <a:srgbClr val="0F172A"/>
                </a:solidFill>
                <a:latin typeface="PT Sans"/>
              </a:rPr>
              <a:t>9</a:t>
            </a:r>
            <a:r>
              <a:rPr sz="1400" b="0">
                <a:solidFill>
                  <a:srgbClr val="0F172A"/>
                </a:solidFill>
                <a:latin typeface="PT Sans"/>
              </a:rPr>
              <a:t>) в сочетании с высокой скоростью деления создает мощный резерв адаптивных спонтанных мутаций.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2: МОРФОЛОГИЯ И БИОФИЗИКА БАКТЕРИЙ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11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Ультраструктура бактериальной клетки: общий план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Обязательные и факультативные анатомические компоненты прокариот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pic>
        <p:nvPicPr>
          <p:cNvPr id="9" name="Picture 8" descr="fig_07_bacterial_cell_anatomy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386044" y="1605788"/>
            <a:ext cx="4440379" cy="28163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1604" y="4462272"/>
            <a:ext cx="1090879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0" dirty="0" err="1">
                <a:solidFill>
                  <a:srgbClr val="475569"/>
                </a:solidFill>
                <a:latin typeface="PT Sans"/>
              </a:rPr>
              <a:t>Рис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. 2.3.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Ультраструктурная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организация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типичной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бактериальной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клетки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(Prescott's Microbiology, Fig. 3.6)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6308" y="4782312"/>
            <a:ext cx="4919472" cy="2075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Обязательные органеллы (Obligate)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Присутствуют у всех жизнеспособных бактерий: </a:t>
            </a:r>
            <a:r>
              <a:rPr sz="1400" b="1">
                <a:solidFill>
                  <a:srgbClr val="0F172A"/>
                </a:solidFill>
                <a:latin typeface="PT Sans"/>
              </a:rPr>
              <a:t>плазматическая мембрана</a:t>
            </a:r>
            <a:r>
              <a:rPr sz="1400" b="0">
                <a:solidFill>
                  <a:srgbClr val="0F172A"/>
                </a:solidFill>
                <a:latin typeface="PT Sans"/>
              </a:rPr>
              <a:t> (барьер проницаемости и генерация энергии), </a:t>
            </a:r>
            <a:r>
              <a:rPr sz="1400" b="1">
                <a:solidFill>
                  <a:srgbClr val="0F172A"/>
                </a:solidFill>
                <a:latin typeface="PT Sans"/>
              </a:rPr>
              <a:t>нуклеоид</a:t>
            </a:r>
            <a:r>
              <a:rPr sz="1400" b="0">
                <a:solidFill>
                  <a:srgbClr val="0F172A"/>
                </a:solidFill>
                <a:latin typeface="PT Sans"/>
              </a:rPr>
              <a:t> (генетическая программа в форме кольцевой ДНК), </a:t>
            </a:r>
            <a:r>
              <a:rPr sz="1400" b="1">
                <a:solidFill>
                  <a:srgbClr val="0F172A"/>
                </a:solidFill>
                <a:latin typeface="PT Sans"/>
              </a:rPr>
              <a:t>70S рибосомы</a:t>
            </a:r>
            <a:r>
              <a:rPr sz="1400" b="0">
                <a:solidFill>
                  <a:srgbClr val="0F172A"/>
                </a:solidFill>
                <a:latin typeface="PT Sans"/>
              </a:rPr>
              <a:t> (синтез белка) и </a:t>
            </a:r>
            <a:r>
              <a:rPr sz="1400" b="1">
                <a:solidFill>
                  <a:srgbClr val="0F172A"/>
                </a:solidFill>
                <a:latin typeface="PT Sans"/>
              </a:rPr>
              <a:t>цитозоль</a:t>
            </a:r>
            <a:r>
              <a:rPr sz="1400" b="0">
                <a:solidFill>
                  <a:srgbClr val="0F172A"/>
                </a:solidFill>
                <a:latin typeface="PT Sans"/>
              </a:rPr>
              <a:t> (коллоидный матрикс метаболизма).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3292" y="4782312"/>
            <a:ext cx="4919472" cy="2075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 dirty="0" err="1">
                <a:solidFill>
                  <a:srgbClr val="0F172A"/>
                </a:solidFill>
                <a:latin typeface="PT Sans"/>
              </a:rPr>
              <a:t>Факультативные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структуры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(Accessory)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 dirty="0" err="1">
                <a:solidFill>
                  <a:srgbClr val="0F172A"/>
                </a:solidFill>
                <a:latin typeface="PT Sans"/>
              </a:rPr>
              <a:t>Встречаются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у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определенных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видов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зависимости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экологии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: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клеточная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стенка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отсутствует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у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микоплазм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),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капсула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слизистый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слой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защита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адгезия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),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жгутики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локомоция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),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фимбрии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/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пили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прикрепление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),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эндоспоры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выживание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запасные</a:t>
            </a:r>
            <a:r>
              <a:rPr sz="140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1" dirty="0" err="1">
                <a:solidFill>
                  <a:srgbClr val="0F172A"/>
                </a:solidFill>
                <a:latin typeface="PT Sans"/>
              </a:rPr>
              <a:t>включения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3: МЕМБРАНА И КЛЕТОЧНАЯ СТЕНКА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12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Жидкостно-мозаичная модель плазматической мембраны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Липидный бислой, интегральные и периферические белковые комплексы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pic>
        <p:nvPicPr>
          <p:cNvPr id="9" name="Picture 8" descr="fig_08_plasma_membrane.png"/>
          <p:cNvPicPr>
            <a:picLocks noChangeAspect="1"/>
          </p:cNvPicPr>
          <p:nvPr/>
        </p:nvPicPr>
        <p:blipFill>
          <a:blip r:embed="rId2"/>
          <a:srcRect b="7255"/>
          <a:stretch>
            <a:fillRect/>
          </a:stretch>
        </p:blipFill>
        <p:spPr>
          <a:xfrm>
            <a:off x="3232642" y="1548977"/>
            <a:ext cx="5726715" cy="312919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7671" y="4663440"/>
            <a:ext cx="1090879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0" dirty="0" err="1">
                <a:solidFill>
                  <a:srgbClr val="475569"/>
                </a:solidFill>
                <a:latin typeface="PT Sans"/>
              </a:rPr>
              <a:t>Рис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. 3.1. Модель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строения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плазматической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мембраны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</a:t>
            </a:r>
            <a:r>
              <a:rPr sz="1150" b="0" dirty="0" err="1">
                <a:solidFill>
                  <a:srgbClr val="475569"/>
                </a:solidFill>
                <a:latin typeface="PT Sans"/>
              </a:rPr>
              <a:t>бактерий</a:t>
            </a:r>
            <a:r>
              <a:rPr sz="1150" b="0" dirty="0">
                <a:solidFill>
                  <a:srgbClr val="475569"/>
                </a:solidFill>
                <a:latin typeface="PT Sans"/>
              </a:rPr>
              <a:t> (Prescott's Microbiology, Fig. 3.7)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" y="4965830"/>
            <a:ext cx="4919472" cy="2075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Архитектура фосфолипидного бислоя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Мембрана образована амфипатическими фосфолипидами толщиной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4 - 5 нм</a:t>
            </a:r>
            <a:r>
              <a:rPr sz="1400" b="0">
                <a:solidFill>
                  <a:srgbClr val="0F172A"/>
                </a:solidFill>
                <a:latin typeface="PT Sans"/>
              </a:rPr>
              <a:t>. Гидрофильные полярные головки обращены к водной среде цитоплазмы и периплазмы, гидрофобные неполярные хвосты жирных кислот формируют внутреннее ядро барьера.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965830"/>
            <a:ext cx="4919472" cy="2075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 dirty="0">
                <a:solidFill>
                  <a:srgbClr val="0F172A"/>
                </a:solidFill>
                <a:latin typeface="PT Sans"/>
              </a:rPr>
              <a:t>Белковые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ансамбли</a:t>
            </a:r>
            <a:r>
              <a:rPr sz="1650" b="1" dirty="0">
                <a:solidFill>
                  <a:srgbClr val="0F172A"/>
                </a:solidFill>
                <a:latin typeface="PT Sans"/>
              </a:rPr>
              <a:t> </a:t>
            </a:r>
            <a:r>
              <a:rPr sz="1650" b="1" dirty="0" err="1">
                <a:solidFill>
                  <a:srgbClr val="0F172A"/>
                </a:solidFill>
                <a:latin typeface="PT Sans"/>
              </a:rPr>
              <a:t>мембраны</a:t>
            </a:r>
            <a:endParaRPr sz="1650" b="1" dirty="0">
              <a:solidFill>
                <a:srgbClr val="0F172A"/>
              </a:solidFill>
              <a:latin typeface="PT Sans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 dirty="0">
                <a:solidFill>
                  <a:srgbClr val="0F172A"/>
                </a:solidFill>
                <a:latin typeface="PT Sans"/>
              </a:rPr>
              <a:t>Интегральные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белки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пронизывают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бислой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транспортные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каналы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, АТФ-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синтаза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цитохромы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дыхательной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цепи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).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Периферические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белки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связаны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электростатически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.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Мембрана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находится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в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динамическом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жидком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жидкокристаллическом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PT Sans"/>
              </a:rPr>
              <a:t>состоянии</a:t>
            </a:r>
            <a:r>
              <a:rPr sz="1400" b="0" dirty="0">
                <a:solidFill>
                  <a:srgbClr val="0F172A"/>
                </a:solidFill>
                <a:latin typeface="PT Sans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3: МЕМБРАНА И КЛЕТОЧНАЯ СТЕНКА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13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Липидный состав мембран и гопаноиды бактерий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Пентациклические тритерпеноиды как бактериальные аналоги холестерина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pic>
        <p:nvPicPr>
          <p:cNvPr id="9" name="Picture 8" descr="fig_09_membrane_hopanoids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572540" y="1658619"/>
            <a:ext cx="4184735" cy="282362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1604" y="4612038"/>
            <a:ext cx="1090879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0">
                <a:solidFill>
                  <a:srgbClr val="475569"/>
                </a:solidFill>
                <a:latin typeface="PT Sans"/>
              </a:rPr>
              <a:t>Рис. 3.2. Сравнительная структура стероидов эукариот и бактериальных гопаноидов (Prescott's Microbiology, Fig. 3.9)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2772" y="4880770"/>
            <a:ext cx="4919472" cy="2075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Функция гопаноидов (Hopanoids)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Бактерии не синтезируют холестерин. Его функциональными аналогами выступают </a:t>
            </a:r>
            <a:r>
              <a:rPr sz="1400" b="1">
                <a:solidFill>
                  <a:srgbClr val="0F172A"/>
                </a:solidFill>
                <a:latin typeface="PT Sans"/>
              </a:rPr>
              <a:t>гопаноиды</a:t>
            </a:r>
            <a:r>
              <a:rPr sz="1400" b="0">
                <a:solidFill>
                  <a:srgbClr val="0F172A"/>
                </a:solidFill>
                <a:latin typeface="PT Sans"/>
              </a:rPr>
              <a:t> (например, диплоптен, бактериогопантетрол) - жесткие пентациклические молекулы, стабилизирующие текучесть бислоя при изменении температуры.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9756" y="4880770"/>
            <a:ext cx="4919472" cy="2075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Адаптация жирнокислотного профиля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При понижении температуры бактерии увеличивают долю ненасыщенных жирных кислот (с цис-двойными связями), предотвращая затвердевание мембраны. При повышении температуры возрастает доля насыщенных жирных кислот.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3: МЕМБРАНА И КЛЕТОЧНАЯ СТЕНКА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14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Молекулярная структура пептидогликана (муреина)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Гликановые цепи НАГ-НАМ и тетрапептидные поперечные сшивки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72768"/>
            <a:ext cx="5029200" cy="4873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ig_10_peptidoglycan_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2080" y="1682496"/>
            <a:ext cx="2865198" cy="43708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12648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0">
                <a:solidFill>
                  <a:srgbClr val="475569"/>
                </a:solidFill>
                <a:latin typeface="PT Sans"/>
              </a:rPr>
              <a:t>Рис. 3.3. Химическое строение субъединицы пептидогликана: НАГ, НАМ и пептидный хвост (Prescott's Microbiology, Fig. 3.17)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572768"/>
            <a:ext cx="5605272" cy="23454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63056" y="1700784"/>
            <a:ext cx="5166360" cy="20894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Гликановый остов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Полимерная сеть состоит из повторяющихся дисахаридных звеньев: N-ацетилглюкозамина (НАГ) и N-ацетилмурамовой кислоты (НАМ), соединенных прочными ковалентными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бета--1,4</a:t>
            </a:r>
            <a:r>
              <a:rPr sz="1400" b="0">
                <a:solidFill>
                  <a:srgbClr val="0F172A"/>
                </a:solidFill>
                <a:latin typeface="PT Sans"/>
              </a:rPr>
              <a:t>-гликозидными связями (мишень лизоцима).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4101084"/>
            <a:ext cx="5605272" cy="23454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63056" y="4229100"/>
            <a:ext cx="5166360" cy="20894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Пептидные поперечные связи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К лактильной группе НАМ присоединен тетрапептид с чередованием L- и D-аминокислот (D-аланин, D-глутаминовая кислота, m-DAP или L-лизин). Сшивка между цепями катализируется транспептидазами (пенициллин-связывающими белками PBP).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3: МЕМБРАНА И КЛЕТОЧНАЯ СТЕНКА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15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Клеточная стенка грамположительных бактерий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Многослойный пептидогликан и полимеры тейхоевых кислот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72768"/>
            <a:ext cx="10908792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ig_11_gram_positive_w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0139" y="1645920"/>
            <a:ext cx="2888672" cy="2057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3739896"/>
            <a:ext cx="1090879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0">
                <a:solidFill>
                  <a:srgbClr val="475569"/>
                </a:solidFill>
                <a:latin typeface="PT Sans"/>
              </a:rPr>
              <a:t>Рис. 3.4. Ультраструктура клеточной стенки грамположительных бактерий (Prescott's Microbiology, Fig. 3.21)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114800"/>
            <a:ext cx="532180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" y="4242816"/>
            <a:ext cx="4919472" cy="2075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Мощный муреиновый каркас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Пептидогликан образует гомогенный слой толщиной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20 - 80 нм</a:t>
            </a:r>
            <a:r>
              <a:rPr sz="1400" b="0">
                <a:solidFill>
                  <a:srgbClr val="0F172A"/>
                </a:solidFill>
                <a:latin typeface="PT Sans"/>
              </a:rPr>
              <a:t> (до 40 слоев), составляя до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90%</a:t>
            </a:r>
            <a:r>
              <a:rPr sz="1400" b="0">
                <a:solidFill>
                  <a:srgbClr val="0F172A"/>
                </a:solidFill>
                <a:latin typeface="PT Sans"/>
              </a:rPr>
              <a:t> сухой массы клеточной стенки. Обеспечивает механическую защиту против высокого внутреннего тургорного давления (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20 атм</a:t>
            </a:r>
            <a:r>
              <a:rPr sz="1400" b="0">
                <a:solidFill>
                  <a:srgbClr val="0F172A"/>
                </a:solidFill>
                <a:latin typeface="PT Sans"/>
              </a:rPr>
              <a:t>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7064" y="4114800"/>
            <a:ext cx="532180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28232" y="4242816"/>
            <a:ext cx="4919472" cy="2075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Тейхоевые и липотейхоевые кислоты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Стенка пронизана отрицательно заряженными полимерами глицерол- или рибитолфосфата: </a:t>
            </a:r>
            <a:r>
              <a:rPr sz="1400" b="1">
                <a:solidFill>
                  <a:srgbClr val="0F172A"/>
                </a:solidFill>
                <a:latin typeface="PT Sans"/>
              </a:rPr>
              <a:t>липотейхоевые кислоты</a:t>
            </a:r>
            <a:r>
              <a:rPr sz="1400" b="0">
                <a:solidFill>
                  <a:srgbClr val="0F172A"/>
                </a:solidFill>
                <a:latin typeface="PT Sans"/>
              </a:rPr>
              <a:t> (заякорены в плазматической мембране) и </a:t>
            </a:r>
            <a:r>
              <a:rPr sz="1400" b="1">
                <a:solidFill>
                  <a:srgbClr val="0F172A"/>
                </a:solidFill>
                <a:latin typeface="PT Sans"/>
              </a:rPr>
              <a:t>тейхоевые кислоты стенки</a:t>
            </a:r>
            <a:r>
              <a:rPr sz="1400" b="0">
                <a:solidFill>
                  <a:srgbClr val="0F172A"/>
                </a:solidFill>
                <a:latin typeface="PT Sans"/>
              </a:rPr>
              <a:t> (ковалентно связаны с НАМ). Связывают ионы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Mg^{2+}</a:t>
            </a:r>
            <a:r>
              <a:rPr sz="1400" b="0">
                <a:solidFill>
                  <a:srgbClr val="0F172A"/>
                </a:solidFill>
                <a:latin typeface="PT Sans"/>
              </a:rPr>
              <a:t> и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Ca^{2+}</a:t>
            </a:r>
            <a:r>
              <a:rPr sz="1400" b="0">
                <a:solidFill>
                  <a:srgbClr val="0F172A"/>
                </a:solidFill>
                <a:latin typeface="PT Sans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3: МЕМБРАНА И КЛЕТОЧНАЯ СТЕНКА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16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Клеточная стенка грамотрицательных бактерий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Периплазматическое пространство, тонкий муреин и внешняя мембрана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72768"/>
            <a:ext cx="10908792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ig_12_gram_negative_w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4348" y="1645920"/>
            <a:ext cx="3280255" cy="2057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3739896"/>
            <a:ext cx="1090879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0">
                <a:solidFill>
                  <a:srgbClr val="475569"/>
                </a:solidFill>
                <a:latin typeface="PT Sans"/>
              </a:rPr>
              <a:t>Рис. 3.5. Модель молекулярной организации стенки грамотрицательных бактерий (Prescott's Microbiology, Fig. 3.23)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114800"/>
            <a:ext cx="532180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" y="4242816"/>
            <a:ext cx="4919472" cy="2075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Периплазма и тонкий пептидогликан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Пептидогликан тонкий (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2 - 7 нм</a:t>
            </a:r>
            <a:r>
              <a:rPr sz="1400" b="0">
                <a:solidFill>
                  <a:srgbClr val="0F172A"/>
                </a:solidFill>
                <a:latin typeface="PT Sans"/>
              </a:rPr>
              <a:t>, 1-2 слоя), расположен внутри периплазматического пространства (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30 - 70 нм</a:t>
            </a:r>
            <a:r>
              <a:rPr sz="1400" b="0">
                <a:solidFill>
                  <a:srgbClr val="0F172A"/>
                </a:solidFill>
                <a:latin typeface="PT Sans"/>
              </a:rPr>
              <a:t>). Периплазма заполнена гелем, содержащим гидролитические ферменты, транспортные белки и шапероны.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7064" y="4114800"/>
            <a:ext cx="532180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28232" y="4242816"/>
            <a:ext cx="4919472" cy="2075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Асимметричная внешняя мембрана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Внутренний монослой образован фосфолипидами, наружный монослой состоит из липополисахарида (ЛПС). Липопротеин Брауна ковалентно связывает внешнюю мембрану с пептидогликаном. Трансмембранные белки </a:t>
            </a:r>
            <a:r>
              <a:rPr sz="1400" b="1">
                <a:solidFill>
                  <a:srgbClr val="0F172A"/>
                </a:solidFill>
                <a:latin typeface="PT Sans"/>
              </a:rPr>
              <a:t>порины</a:t>
            </a:r>
            <a:r>
              <a:rPr sz="1400" b="0">
                <a:solidFill>
                  <a:srgbClr val="0F172A"/>
                </a:solidFill>
                <a:latin typeface="PT Sans"/>
              </a:rPr>
              <a:t> обеспечивают диффузию нутриентов.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3: МЕМБРАНА И КЛЕТОЧНАЯ СТЕНКА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17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Липополисахарид (ЛПС) и бактериальные эндотоксины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Молекулярные домены ЛПС грамотрицательных бактерий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72768"/>
            <a:ext cx="5321808" cy="4873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755648"/>
            <a:ext cx="4809744" cy="4507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Доменная структура молекулы ЛПС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Липид А (Эндотоксин):</a:t>
            </a:r>
            <a:r>
              <a:rPr sz="1400" b="0">
                <a:solidFill>
                  <a:srgbClr val="0F172A"/>
                </a:solidFill>
                <a:latin typeface="PT Sans"/>
              </a:rPr>
              <a:t> Фосфорилированный дисахарид глюкозамина с присоединенными остатками жирных кислот. Погружен во внешний слой внешней мембраны; обусловливает токсичность и термостабильность.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Коровый полисахарид (Core):</a:t>
            </a:r>
            <a:r>
              <a:rPr sz="1400" b="0">
                <a:solidFill>
                  <a:srgbClr val="0F172A"/>
                </a:solidFill>
                <a:latin typeface="PT Sans"/>
              </a:rPr>
              <a:t> Олигосахаридный комплекс, содержащий уникальные сахара: КДО (кетодезоксиоктонат) и гептозы. Ковалентно соединяет липид А с терминальным антигеном.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О-специфический полисахарид:</a:t>
            </a:r>
            <a:r>
              <a:rPr sz="1400" b="0">
                <a:solidFill>
                  <a:srgbClr val="0F172A"/>
                </a:solidFill>
                <a:latin typeface="PT Sans"/>
              </a:rPr>
              <a:t> Повторяющиеся последовательности олигосахаридов (до 40 звеньев), экспонированные наружу клетки. Формирует О-антиген, используемый для серотипирования штаммов (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Salmonella</a:t>
            </a:r>
            <a:r>
              <a:rPr sz="1400" b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E. coli</a:t>
            </a:r>
            <a:r>
              <a:rPr sz="1400" b="0">
                <a:solidFill>
                  <a:srgbClr val="0F172A"/>
                </a:solidFill>
                <a:latin typeface="PT Sans"/>
              </a:rPr>
              <a:t> O157:H7).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572768"/>
            <a:ext cx="5321808" cy="4873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83096" y="1755648"/>
            <a:ext cx="4809744" cy="4507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Биологическое и практическое значение ЛПС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Барьер проницаемости:</a:t>
            </a:r>
            <a:r>
              <a:rPr sz="1400" b="0">
                <a:solidFill>
                  <a:srgbClr val="0F172A"/>
                </a:solidFill>
                <a:latin typeface="PT Sans"/>
              </a:rPr>
              <a:t> Плотная упаковка гидрофобных цепей липида А в сочетании с полисахаридным слоем блокирует проникновение гидрофобных антибиотиков, желчных солей и дезинфектантов.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Термостабильность эндотоксинов:</a:t>
            </a:r>
            <a:r>
              <a:rPr sz="1400" b="0">
                <a:solidFill>
                  <a:srgbClr val="0F172A"/>
                </a:solidFill>
                <a:latin typeface="PT Sans"/>
              </a:rPr>
              <a:t> Эндотоксин сохраняет пирогенную активность после стандартной пастеризации и автоклавирования, требуя температур выше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180 - 250 град. C</a:t>
            </a:r>
            <a:r>
              <a:rPr sz="1400" b="0">
                <a:solidFill>
                  <a:srgbClr val="0F172A"/>
                </a:solidFill>
                <a:latin typeface="PT Sans"/>
              </a:rPr>
              <a:t> для полной депирогенизации.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Индукция воспалительного каскада:</a:t>
            </a:r>
            <a:r>
              <a:rPr sz="1400" b="0">
                <a:solidFill>
                  <a:srgbClr val="0F172A"/>
                </a:solidFill>
                <a:latin typeface="PT Sans"/>
              </a:rPr>
              <a:t> Распознается рецепторами TLR4 иммунной системы млекопитающих, вызывая мощный выброс провоспалительных цитокинов, лихорадку и септический шок.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3: МЕМБРАНА И КЛЕТОЧНАЯ СТЕНКА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18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Химизм дифференциальной окраски по Граму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Физико-химические основы дифференциации бактерий (Prescott, Fig. 2.17)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72768"/>
            <a:ext cx="5029200" cy="4873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ig_13_gram_staining_mechan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82496"/>
            <a:ext cx="4663440" cy="347011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12648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0">
                <a:solidFill>
                  <a:srgbClr val="475569"/>
                </a:solidFill>
                <a:latin typeface="PT Sans"/>
              </a:rPr>
              <a:t>Рис. 3.6. Поэтапный механизм дифференциальной окраски по Граму (Prescott's Microbiology, Fig. 2.17)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572768"/>
            <a:ext cx="5605272" cy="23454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63056" y="1700784"/>
            <a:ext cx="5166360" cy="20894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Стадии 1 и 2: Первичная окраска и протрава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1. Обработка </a:t>
            </a:r>
            <a:r>
              <a:rPr sz="1400" b="1">
                <a:solidFill>
                  <a:srgbClr val="0F172A"/>
                </a:solidFill>
                <a:latin typeface="PT Sans"/>
              </a:rPr>
              <a:t>кристаллическим фиолетовым</a:t>
            </a:r>
            <a:r>
              <a:rPr sz="1400" b="0">
                <a:solidFill>
                  <a:srgbClr val="0F172A"/>
                </a:solidFill>
                <a:latin typeface="PT Sans"/>
              </a:rPr>
              <a:t>: все клетки окрашиваются в темно-фиолетовый цвет. 2. Обработка </a:t>
            </a:r>
            <a:r>
              <a:rPr sz="1400" b="1">
                <a:solidFill>
                  <a:srgbClr val="0F172A"/>
                </a:solidFill>
                <a:latin typeface="PT Sans"/>
              </a:rPr>
              <a:t>раствором Люголя (I₂/KI)</a:t>
            </a:r>
            <a:r>
              <a:rPr sz="1400" b="0">
                <a:solidFill>
                  <a:srgbClr val="0F172A"/>
                </a:solidFill>
                <a:latin typeface="PT Sans"/>
              </a:rPr>
              <a:t>: образование крупного нерастворимого комплекса комплекс кристаллвиолет-йод внутри цитоплазмы.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4101084"/>
            <a:ext cx="5605272" cy="23454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63056" y="4229100"/>
            <a:ext cx="5166360" cy="20894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Стадии 3 и 4: Обесцвечивание и докраска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3. </a:t>
            </a:r>
            <a:r>
              <a:rPr sz="1400" b="1">
                <a:solidFill>
                  <a:srgbClr val="0F172A"/>
                </a:solidFill>
                <a:latin typeface="PT Sans"/>
              </a:rPr>
              <a:t>Этанол/ацетон</a:t>
            </a:r>
            <a:r>
              <a:rPr sz="1400" b="0">
                <a:solidFill>
                  <a:srgbClr val="0F172A"/>
                </a:solidFill>
                <a:latin typeface="PT Sans"/>
              </a:rPr>
              <a:t>: у грам(+) дегидратирует толстый пептидогликан, поры сжимаются, краситель удерживается (фиолетовые). У грам(-) растворяет липиды внешней мембраны, краситель вымывается. 4. </a:t>
            </a:r>
            <a:r>
              <a:rPr sz="1400" b="1">
                <a:solidFill>
                  <a:srgbClr val="0F172A"/>
                </a:solidFill>
                <a:latin typeface="PT Sans"/>
              </a:rPr>
              <a:t>Сафранин</a:t>
            </a:r>
            <a:r>
              <a:rPr sz="1400" b="0">
                <a:solidFill>
                  <a:srgbClr val="0F172A"/>
                </a:solidFill>
                <a:latin typeface="PT Sans"/>
              </a:rPr>
              <a:t>: докрашивает обесцвеченные грам(-) клетки в розовый цвет.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4: ПОВЕРХНОСТНЫЕ СТРУКТУРЫ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19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Гликокаликс: капсулы и слизистые слои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Внеклеточные полимерные покровы и факторы вирулентности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72768"/>
            <a:ext cx="10908792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ig_14_capsule_slime_lay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0083" y="1645920"/>
            <a:ext cx="4168784" cy="2057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3739896"/>
            <a:ext cx="1090879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0">
                <a:solidFill>
                  <a:srgbClr val="475569"/>
                </a:solidFill>
                <a:latin typeface="PT Sans"/>
              </a:rPr>
              <a:t>Рис. 4.1. Капсула патогенной бактерии Bacillus anthracis в световом микроскопе (Prescott's Microbiology, Fig. 3.28)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114800"/>
            <a:ext cx="532180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" y="4242816"/>
            <a:ext cx="4919472" cy="2075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Капсула (Capsule)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Четко очерченный, плотный слой полисахаридов (или полипептидов D-глутаминовой кислоты у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Bacillus anthracis</a:t>
            </a:r>
            <a:r>
              <a:rPr sz="1400" b="0">
                <a:solidFill>
                  <a:srgbClr val="0F172A"/>
                </a:solidFill>
                <a:latin typeface="PT Sans"/>
              </a:rPr>
              <a:t>), ковалентно связанный с клеточной стенкой. Предотвращает фагоцитоз макрофагами и высыхание клетки во внешней среде.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7064" y="4114800"/>
            <a:ext cx="532180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28232" y="4242816"/>
            <a:ext cx="4919472" cy="2075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Слизистый слой (Slime layer)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Рыхлая диффузная масса полисахаридов, легко отделяющаяся от клетки. Обеспечивает первичное прикрепление клеток к гладким абиотическим субстратам (нержавеющая сталь, пластик) и содействует скольжению.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4: ПОВЕРХНОСТНЫЕ СТРУКТУРЫ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20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Фимбрии и пили: адгезия и конъюгация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Белковые филаменты клеточной поверхности и передача генов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72768"/>
            <a:ext cx="5029200" cy="4873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ig_15_pili_fimbri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82496"/>
            <a:ext cx="4663440" cy="336076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12648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0">
                <a:solidFill>
                  <a:srgbClr val="475569"/>
                </a:solidFill>
                <a:latin typeface="PT Sans"/>
              </a:rPr>
              <a:t>Рис. 4.2. Электронная микрофотография многочисленных фимбрий и длинных жгутиков (Prescott's Microbiology, Fig. 3.37)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572768"/>
            <a:ext cx="5605272" cy="23454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63056" y="1700784"/>
            <a:ext cx="5166360" cy="20894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Фимбрии (Fimbriae)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Короткие тонкие белковые трубочки (до 1000 на клетку, диаметр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3 - 10 нм</a:t>
            </a:r>
            <a:r>
              <a:rPr sz="1400" b="0">
                <a:solidFill>
                  <a:srgbClr val="0F172A"/>
                </a:solidFill>
                <a:latin typeface="PT Sans"/>
              </a:rPr>
              <a:t>), состоящие из белка фимбрилина. Несут на дистальном конце адгезины, селективно связывающиеся с рецепторами клеток хозяина.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4101084"/>
            <a:ext cx="5605272" cy="23454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63056" y="4229100"/>
            <a:ext cx="5166360" cy="20894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Половые пили и пили IV типа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PT Sans"/>
              </a:rPr>
              <a:t>F-пили (половые пили)</a:t>
            </a:r>
            <a:r>
              <a:rPr sz="1400" b="0">
                <a:solidFill>
                  <a:srgbClr val="0F172A"/>
                </a:solidFill>
                <a:latin typeface="PT Sans"/>
              </a:rPr>
              <a:t>: длинные полые трубки (1-10 на клетку), обеспечивающие межклеточный контакт при горизонтальном переносе плазмид методом конъюгации. </a:t>
            </a:r>
            <a:r>
              <a:rPr sz="1400" b="1">
                <a:solidFill>
                  <a:srgbClr val="0F172A"/>
                </a:solidFill>
                <a:latin typeface="PT Sans"/>
              </a:rPr>
              <a:t>Пили IV типа</a:t>
            </a:r>
            <a:r>
              <a:rPr sz="1400" b="0">
                <a:solidFill>
                  <a:srgbClr val="0F172A"/>
                </a:solidFill>
                <a:latin typeface="PT Sans"/>
              </a:rPr>
              <a:t>: осуществляют дергающуюся подвижность (twitching motility).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4: ПОВЕРХНОСТНЫЕ СТРУКТУРЫ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21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Бактериальные биопленки: матрикс EPS и персистенция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Многоклеточный консорциум и механизмы фенотипической резистентности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72768"/>
            <a:ext cx="5321808" cy="4873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755648"/>
            <a:ext cx="4809744" cy="4507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Стадии онтогенеза биопленки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1. Обратимая адгезия:</a:t>
            </a:r>
            <a:r>
              <a:rPr sz="1400" b="0">
                <a:solidFill>
                  <a:srgbClr val="0F172A"/>
                </a:solidFill>
                <a:latin typeface="PT Sans"/>
              </a:rPr>
              <a:t> Оседание планктонных клеток на поверхность под действием гидрофобных и электростатических сил Ван-дер-Ваальса.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2. Необратимое закрепление:</a:t>
            </a:r>
            <a:r>
              <a:rPr sz="1400" b="0">
                <a:solidFill>
                  <a:srgbClr val="0F172A"/>
                </a:solidFill>
                <a:latin typeface="PT Sans"/>
              </a:rPr>
              <a:t> Активация синтеза адгезинов, фимбрий и начальная секреция внеклеточных полисахаридов (EPS).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3. Созревание микроколоний:</a:t>
            </a:r>
            <a:r>
              <a:rPr sz="1400" b="0">
                <a:solidFill>
                  <a:srgbClr val="0F172A"/>
                </a:solidFill>
                <a:latin typeface="PT Sans"/>
              </a:rPr>
              <a:t> Формирование трехмерных колоний грибовидной формы с развитой сетью циркуляционных каналов для доставки воды и питательных веществ.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4. Дисперсия клеток:</a:t>
            </a:r>
            <a:r>
              <a:rPr sz="1400" b="0">
                <a:solidFill>
                  <a:srgbClr val="0F172A"/>
                </a:solidFill>
                <a:latin typeface="PT Sans"/>
              </a:rPr>
              <a:t> Ферментативный гидролиз матрикса и выход подвижных планктонных клеток для колонизации новых поверхностей.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572768"/>
            <a:ext cx="5321808" cy="4873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83096" y="1755648"/>
            <a:ext cx="4809744" cy="4507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Матрикс EPS и механизмы резистентности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Внеклеточный матрикс (EPS):</a:t>
            </a:r>
            <a:r>
              <a:rPr sz="1400" b="0">
                <a:solidFill>
                  <a:srgbClr val="0F172A"/>
                </a:solidFill>
                <a:latin typeface="PT Sans"/>
              </a:rPr>
              <a:t> Состоит из экзополисахаридов (альгинат, целлюлоза), внеклеточной ДНК (eDNA) и структурных белков; составляет до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85%</a:t>
            </a:r>
            <a:r>
              <a:rPr sz="1400" b="0">
                <a:solidFill>
                  <a:srgbClr val="0F172A"/>
                </a:solidFill>
                <a:latin typeface="PT Sans"/>
              </a:rPr>
              <a:t> объема биопленки.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Диффузионный барьер:</a:t>
            </a:r>
            <a:r>
              <a:rPr sz="1400" b="0">
                <a:solidFill>
                  <a:srgbClr val="0F172A"/>
                </a:solidFill>
                <a:latin typeface="PT Sans"/>
              </a:rPr>
              <a:t> Заряженный матрикс связывает и нейтрализует молекулы дезинфектантов (хлор, ЧАС), снижая их эффективную концентрацию на порядки.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Клетки-персисторы (Persisters):</a:t>
            </a:r>
            <a:r>
              <a:rPr sz="1400" b="0">
                <a:solidFill>
                  <a:srgbClr val="0F172A"/>
                </a:solidFill>
                <a:latin typeface="PT Sans"/>
              </a:rPr>
              <a:t> В глубинных слоях биопленки клетки находятся в гипометаболическом спящем состоянии, что делает их толерантными к биоцидам и теплу в 100-1000 раз.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4: ПОВЕРХНОСТНЫЕ СТРУКТУРЫ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22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Жгутики и типы жгутикования бактерий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Спиральные филаменты и топология распределения по клетке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72768"/>
            <a:ext cx="10908792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ig_16_flagella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7004" y="1645920"/>
            <a:ext cx="5594943" cy="2057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3739896"/>
            <a:ext cx="1090879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0">
                <a:solidFill>
                  <a:srgbClr val="475569"/>
                </a:solidFill>
                <a:latin typeface="PT Sans"/>
              </a:rPr>
              <a:t>Рис. 4.3. Топологические варианты расположения жгутиков у бактерий (Prescott's Microbiology, Fig. 3.38)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114800"/>
            <a:ext cx="532180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" y="4242816"/>
            <a:ext cx="4919472" cy="2075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Топология жгутикования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PT Sans"/>
              </a:rPr>
              <a:t>Монотрих</a:t>
            </a:r>
            <a:r>
              <a:rPr sz="1400" b="0">
                <a:solidFill>
                  <a:srgbClr val="0F172A"/>
                </a:solidFill>
                <a:latin typeface="PT Sans"/>
              </a:rPr>
              <a:t>: единственный полярный жгутик (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Pseudomonas aeruginosa</a:t>
            </a:r>
            <a:r>
              <a:rPr sz="1400" b="0">
                <a:solidFill>
                  <a:srgbClr val="0F172A"/>
                </a:solidFill>
                <a:latin typeface="PT Sans"/>
              </a:rPr>
              <a:t>). </a:t>
            </a:r>
            <a:r>
              <a:rPr sz="1400" b="1">
                <a:solidFill>
                  <a:srgbClr val="0F172A"/>
                </a:solidFill>
                <a:latin typeface="PT Sans"/>
              </a:rPr>
              <a:t>Лофотрих</a:t>
            </a:r>
            <a:r>
              <a:rPr sz="1400" b="0">
                <a:solidFill>
                  <a:srgbClr val="0F172A"/>
                </a:solidFill>
                <a:latin typeface="PT Sans"/>
              </a:rPr>
              <a:t>: пучок жгутиков на одном полюсе (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Pseudomonas fluorescens</a:t>
            </a:r>
            <a:r>
              <a:rPr sz="1400" b="0">
                <a:solidFill>
                  <a:srgbClr val="0F172A"/>
                </a:solidFill>
                <a:latin typeface="PT Sans"/>
              </a:rPr>
              <a:t>). </a:t>
            </a:r>
            <a:r>
              <a:rPr sz="1400" b="1">
                <a:solidFill>
                  <a:srgbClr val="0F172A"/>
                </a:solidFill>
                <a:latin typeface="PT Sans"/>
              </a:rPr>
              <a:t>Амфитрих</a:t>
            </a:r>
            <a:r>
              <a:rPr sz="1400" b="0">
                <a:solidFill>
                  <a:srgbClr val="0F172A"/>
                </a:solidFill>
                <a:latin typeface="PT Sans"/>
              </a:rPr>
              <a:t>: жгутики на обоих противоположных полюсах. </a:t>
            </a:r>
            <a:r>
              <a:rPr sz="1400" b="1">
                <a:solidFill>
                  <a:srgbClr val="0F172A"/>
                </a:solidFill>
                <a:latin typeface="PT Sans"/>
              </a:rPr>
              <a:t>Перитрих</a:t>
            </a:r>
            <a:r>
              <a:rPr sz="1400" b="0">
                <a:solidFill>
                  <a:srgbClr val="0F172A"/>
                </a:solidFill>
                <a:latin typeface="PT Sans"/>
              </a:rPr>
              <a:t>: жгутики распределены по всей поверхности клетки (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E. coli</a:t>
            </a:r>
            <a:r>
              <a:rPr sz="1400" b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Salmonella</a:t>
            </a:r>
            <a:r>
              <a:rPr sz="1400" b="0">
                <a:solidFill>
                  <a:srgbClr val="0F172A"/>
                </a:solidFill>
                <a:latin typeface="PT Sans"/>
              </a:rPr>
              <a:t>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7064" y="4114800"/>
            <a:ext cx="532180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28232" y="4242816"/>
            <a:ext cx="4919472" cy="2075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Строение филамента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Жгутик - полая жесткая спиральная нить диаметром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20 нм</a:t>
            </a:r>
            <a:r>
              <a:rPr sz="1400" b="0">
                <a:solidFill>
                  <a:srgbClr val="0F172A"/>
                </a:solidFill>
                <a:latin typeface="PT Sans"/>
              </a:rPr>
              <a:t> и длиной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15 - 20 мкм</a:t>
            </a:r>
            <a:r>
              <a:rPr sz="1400" b="0">
                <a:solidFill>
                  <a:srgbClr val="0F172A"/>
                </a:solidFill>
                <a:latin typeface="PT Sans"/>
              </a:rPr>
              <a:t>, собранная из тысяч субъединиц глобулярного белка </a:t>
            </a:r>
            <a:r>
              <a:rPr sz="1400" b="1">
                <a:solidFill>
                  <a:srgbClr val="0F172A"/>
                </a:solidFill>
                <a:latin typeface="PT Sans"/>
              </a:rPr>
              <a:t>флагеллина</a:t>
            </a:r>
            <a:r>
              <a:rPr sz="1400" b="0">
                <a:solidFill>
                  <a:srgbClr val="0F172A"/>
                </a:solidFill>
                <a:latin typeface="PT Sans"/>
              </a:rPr>
              <a:t> (Н-антиген). Рост филамента происходит с дистального конца.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4: ПОВЕРХНОСТНЫЕ СТРУКТУРЫ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23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Молекулярный мотор жгутика и протон-движущая сила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Роторный наномотор и трансмембранный градиент </a:t>
            </a:r>
            <a:r>
              <a:rPr sz="1350" b="0" i="1">
                <a:solidFill>
                  <a:srgbClr val="475569"/>
                </a:solidFill>
                <a:latin typeface="PT Sans"/>
              </a:rPr>
              <a:t>\Deltaмк_{H^+}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72768"/>
            <a:ext cx="10908792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ig_17_flagellar_mo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9939" y="1645920"/>
            <a:ext cx="3889073" cy="2057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3739896"/>
            <a:ext cx="1090879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0">
                <a:solidFill>
                  <a:srgbClr val="475569"/>
                </a:solidFill>
                <a:latin typeface="PT Sans"/>
              </a:rPr>
              <a:t>Рис. 4.4. Ультраструктура базального тела и роторного комплекса жгутика (Prescott's Microbiology, Fig. 3.39)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114800"/>
            <a:ext cx="532180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" y="4242816"/>
            <a:ext cx="4919472" cy="2075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Базальное тело (Ротор и статор)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Состоит из центрального стержня и коаксиальных колец: кольца L (липополисахарид) и P (пептидогликан) служат подшипниками; кольца MS и C образуют ротор в мембране. Статор сформирован белками MotA и MotB, образующими протонный канал.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7064" y="4114800"/>
            <a:ext cx="532180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28232" y="4242816"/>
            <a:ext cx="4919472" cy="2075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Энергетика вращения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Вращение не требует гидролиза АТФ напрямую; оно приводится в действие </a:t>
            </a:r>
            <a:r>
              <a:rPr sz="1400" b="1">
                <a:solidFill>
                  <a:srgbClr val="0F172A"/>
                </a:solidFill>
                <a:latin typeface="PT Sans"/>
              </a:rPr>
              <a:t>протон-движущей силой (PMF)</a:t>
            </a:r>
            <a:r>
              <a:rPr sz="1400" b="0">
                <a:solidFill>
                  <a:srgbClr val="0F172A"/>
                </a:solidFill>
                <a:latin typeface="PT Sans"/>
              </a:rPr>
              <a:t> - потоком протонов (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H^+</a:t>
            </a:r>
            <a:r>
              <a:rPr sz="1400" b="0">
                <a:solidFill>
                  <a:srgbClr val="0F172A"/>
                </a:solidFill>
                <a:latin typeface="PT Sans"/>
              </a:rPr>
              <a:t>) через канал MotA/MotB. Мотор способен вращаться со скоростью до 1000 об/с, переключая направление вращения.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4: ПОВЕРХНОСТНЫЕ СТРУКТУРЫ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24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Механизм бактериального хемотаксиса: пробеги и кувыркания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Случайное блуждание с направленным дрейфом вдоль градиента аттрактанта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72768"/>
            <a:ext cx="5029200" cy="4873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ig_18_chemotaxis_run_tum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82496"/>
            <a:ext cx="4663440" cy="43279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12648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0">
                <a:solidFill>
                  <a:srgbClr val="475569"/>
                </a:solidFill>
                <a:latin typeface="PT Sans"/>
              </a:rPr>
              <a:t>Рис. 4.5. Траектория движения бактерии: чередование пробегов и кувырканий (Prescott's Microbiology, Fig. 3.44)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572768"/>
            <a:ext cx="5605272" cy="23454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63056" y="1700784"/>
            <a:ext cx="5166360" cy="20894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Пробег (Run) vs Кувыркание (Tumble)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Вращение жгутиков </a:t>
            </a:r>
            <a:r>
              <a:rPr sz="1400" b="1">
                <a:solidFill>
                  <a:srgbClr val="0F172A"/>
                </a:solidFill>
                <a:latin typeface="PT Sans"/>
              </a:rPr>
              <a:t>против часовой стрелки (CCW)</a:t>
            </a:r>
            <a:r>
              <a:rPr sz="1400" b="0">
                <a:solidFill>
                  <a:srgbClr val="0F172A"/>
                </a:solidFill>
                <a:latin typeface="PT Sans"/>
              </a:rPr>
              <a:t> собирает их в единый пучок, продвигая клетку вперед по прямой линии (пробег). Переключение вращения </a:t>
            </a:r>
            <a:r>
              <a:rPr sz="1400" b="1">
                <a:solidFill>
                  <a:srgbClr val="0F172A"/>
                </a:solidFill>
                <a:latin typeface="PT Sans"/>
              </a:rPr>
              <a:t>по часовой стрелке (CW)</a:t>
            </a:r>
            <a:r>
              <a:rPr sz="1400" b="0">
                <a:solidFill>
                  <a:srgbClr val="0F172A"/>
                </a:solidFill>
                <a:latin typeface="PT Sans"/>
              </a:rPr>
              <a:t> распускает пучок, приводя к хаотическому переориентированию клетки на месте (кувыркание).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4101084"/>
            <a:ext cx="5605272" cy="23454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63056" y="4229100"/>
            <a:ext cx="5166360" cy="20894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Хемосенсорный каскад MCP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Метил-акцепторные белки хемотаксиса (MCP) измеряют изменение концентрации аттрактанта во времени. При движении вверх по градиенту питательного вещества длительность пробегов удлиняется, а частота кувырканий снижается.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5: ЦИТОПЛАЗМА И ЭНДОСПОРЫ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25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Цитоплазматические структуры и нуклеоид бактерий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Организация генома, суперскрученность и белковый синтез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72768"/>
            <a:ext cx="5321808" cy="4873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755648"/>
            <a:ext cx="4809744" cy="4507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Бактериальный нуклеоид и плазмиды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Топология хромосомы:</a:t>
            </a:r>
            <a:r>
              <a:rPr sz="1400" b="0">
                <a:solidFill>
                  <a:srgbClr val="0F172A"/>
                </a:solidFill>
                <a:latin typeface="PT Sans"/>
              </a:rPr>
              <a:t> Двухцепочечная кольцевая ДНК длиной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1 - 1.5 мм</a:t>
            </a:r>
            <a:r>
              <a:rPr sz="1400" b="0">
                <a:solidFill>
                  <a:srgbClr val="0F172A"/>
                </a:solidFill>
                <a:latin typeface="PT Sans"/>
              </a:rPr>
              <a:t>, компактно упакованная в нуклеоид с помощью суперскручивания ферментами ДНК-гиразой и топоизомеразой IV.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Белки NAPs:</a:t>
            </a:r>
            <a:r>
              <a:rPr sz="1400" b="0">
                <a:solidFill>
                  <a:srgbClr val="0F172A"/>
                </a:solidFill>
                <a:latin typeface="PT Sans"/>
              </a:rPr>
              <a:t> Нуклеоид-ассоциированные белки (HU, H-NS, Fis) организуют ДНК в изолированные топологические петли без формирования нуклеосом.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Плазмидный пул:</a:t>
            </a:r>
            <a:r>
              <a:rPr sz="1400" b="0">
                <a:solidFill>
                  <a:srgbClr val="0F172A"/>
                </a:solidFill>
                <a:latin typeface="PT Sans"/>
              </a:rPr>
              <a:t> Внехромосомные кольцевые ДНК (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1 - 200 т.п.н.</a:t>
            </a:r>
            <a:r>
              <a:rPr sz="1400" b="0">
                <a:solidFill>
                  <a:srgbClr val="0F172A"/>
                </a:solidFill>
                <a:latin typeface="PT Sans"/>
              </a:rPr>
              <a:t>), автономно реплицирующиеся и несущие гены резистентности к антибиотикам (R-плазмиды), токсинов или утилизации сахаров.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572768"/>
            <a:ext cx="5321808" cy="4873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83096" y="1755648"/>
            <a:ext cx="4809744" cy="4507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Трансляционный аппарат: 70S рибосомы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Субъединицы рибосомы:</a:t>
            </a:r>
            <a:r>
              <a:rPr sz="1400" b="0">
                <a:solidFill>
                  <a:srgbClr val="0F172A"/>
                </a:solidFill>
                <a:latin typeface="PT Sans"/>
              </a:rPr>
              <a:t> Коэффициент седиментации 70S; состоит из малой субъединицы 30S (16S рРНК + 21 белок) и большой субъединицы 50S (23S рРНК, 5S рРНК + 31 белок).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Сопряжение транскрипции и трансляции:</a:t>
            </a:r>
            <a:r>
              <a:rPr sz="1400" b="0">
                <a:solidFill>
                  <a:srgbClr val="0F172A"/>
                </a:solidFill>
                <a:latin typeface="PT Sans"/>
              </a:rPr>
              <a:t> Ввиду отсутствия ядерной мембраны рибосомы начинают трансляцию мРНК одновременно с её синтезом РНК-полимеразой (полисомы).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Фармакологическая селективность:</a:t>
            </a:r>
            <a:r>
              <a:rPr sz="1400" b="0">
                <a:solidFill>
                  <a:srgbClr val="0F172A"/>
                </a:solidFill>
                <a:latin typeface="PT Sans"/>
              </a:rPr>
              <a:t> Структурные различия между 70S бактерий и 80S эукариот позволяют антибиотикам селективно ингибировать микробный синтез белка.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5: ЦИТОПЛАЗМА И ЭНДОСПОРЫ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26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Внутриклеточные включения и метаболические запасы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Резервные полимеры и специализированные микрокомпартменты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72768"/>
            <a:ext cx="5321808" cy="4873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755648"/>
            <a:ext cx="4809744" cy="4507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Резервные энергетические полимеры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Гликоген и крахмал:</a:t>
            </a:r>
            <a:r>
              <a:rPr sz="1400" b="0">
                <a:solidFill>
                  <a:srgbClr val="0F172A"/>
                </a:solidFill>
                <a:latin typeface="PT Sans"/>
              </a:rPr>
              <a:t> Полимеры глюкозы с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альфа--1,4</a:t>
            </a:r>
            <a:r>
              <a:rPr sz="1400" b="0">
                <a:solidFill>
                  <a:srgbClr val="0F172A"/>
                </a:solidFill>
                <a:latin typeface="PT Sans"/>
              </a:rPr>
              <a:t>-связями, формирующие осмотически инертные гранулы запаса углерода и энергии в условиях избытка субстрата.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Полигидроксибутират (PHB):</a:t>
            </a:r>
            <a:r>
              <a:rPr sz="1400" b="0">
                <a:solidFill>
                  <a:srgbClr val="0F172A"/>
                </a:solidFill>
                <a:latin typeface="PT Sans"/>
              </a:rPr>
              <a:t> Липидоподобный биоразлагаемый полимер эфиров оксимасляной кислоты, аккумулируемый при дефиците азота или фосфора.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Гранулы волютина (Полифосфаты):</a:t>
            </a:r>
            <a:r>
              <a:rPr sz="1400" b="0">
                <a:solidFill>
                  <a:srgbClr val="0F172A"/>
                </a:solidFill>
                <a:latin typeface="PT Sans"/>
              </a:rPr>
              <a:t> Линейные полимеры неорганического ортофосфата (метахроматические гранулы), служащие депо фосфора для синтеза нуклеиновых кислот и АТФ.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572768"/>
            <a:ext cx="5321808" cy="4873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83096" y="1755648"/>
            <a:ext cx="4809744" cy="4507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Функциональные компартменты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Карбоксисомы:</a:t>
            </a:r>
            <a:r>
              <a:rPr sz="1400" b="0">
                <a:solidFill>
                  <a:srgbClr val="0F172A"/>
                </a:solidFill>
                <a:latin typeface="PT Sans"/>
              </a:rPr>
              <a:t> Белковые полиэдрические микрокомпартменты цианобактерий, содержащие фермент РуБисКО и карбоангидразу для фиксации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CO_2</a:t>
            </a:r>
            <a:r>
              <a:rPr sz="1400" b="0">
                <a:solidFill>
                  <a:srgbClr val="0F172A"/>
                </a:solidFill>
                <a:latin typeface="PT Sans"/>
              </a:rPr>
              <a:t>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Газовые вакуоли:</a:t>
            </a:r>
            <a:r>
              <a:rPr sz="1400" b="0">
                <a:solidFill>
                  <a:srgbClr val="0F172A"/>
                </a:solidFill>
                <a:latin typeface="PT Sans"/>
              </a:rPr>
              <a:t> Белковые цилиндрические везикулы, непроницаемые для воды, но проницаемые для газов; регулируют плавучесть водных бактерий.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Магнетосомы:</a:t>
            </a:r>
            <a:r>
              <a:rPr sz="1400" b="0">
                <a:solidFill>
                  <a:srgbClr val="0F172A"/>
                </a:solidFill>
                <a:latin typeface="PT Sans"/>
              </a:rPr>
              <a:t> Цепочки кристаллов магнетита (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Fe_3O_4</a:t>
            </a:r>
            <a:r>
              <a:rPr sz="1400" b="0">
                <a:solidFill>
                  <a:srgbClr val="0F172A"/>
                </a:solidFill>
                <a:latin typeface="PT Sans"/>
              </a:rPr>
              <a:t>), заключенные в липидную оболочку; ориентируют клетку вдоль геомагнитного поля Земли.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5: ЦИТОПЛАЗМА И ЭНДОСПОРЫ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27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Строение и устойчивость бактериальной эндоспоры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Многослойная архитектура покоящихся форм родов Bacillus и Clostridium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72768"/>
            <a:ext cx="5029200" cy="4873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ig_19_endospore_ultra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378" y="1682496"/>
            <a:ext cx="4606603" cy="43708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12648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0">
                <a:solidFill>
                  <a:srgbClr val="475569"/>
                </a:solidFill>
                <a:latin typeface="PT Sans"/>
              </a:rPr>
              <a:t>Рис. 5.1. Ультраструктурные слои бактериальной эндоспоры (Prescott's Microbiology, Fig. 3.45)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572768"/>
            <a:ext cx="5605272" cy="23454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63056" y="1700784"/>
            <a:ext cx="5166360" cy="20894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Сердцевина (Core) и дипиколинат кальция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Содержит геном, рибосомы и цитоплазму с экстремально низкой гидратацией (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10 - 25%</a:t>
            </a:r>
            <a:r>
              <a:rPr sz="1400" b="0">
                <a:solidFill>
                  <a:srgbClr val="0F172A"/>
                </a:solidFill>
                <a:latin typeface="PT Sans"/>
              </a:rPr>
              <a:t>). Высокая концентрация </a:t>
            </a:r>
            <a:r>
              <a:rPr sz="1400" b="1">
                <a:solidFill>
                  <a:srgbClr val="0F172A"/>
                </a:solidFill>
                <a:latin typeface="PT Sans"/>
              </a:rPr>
              <a:t>дипиколината кальция (Ca-DPA)</a:t>
            </a:r>
            <a:r>
              <a:rPr sz="1400" b="0">
                <a:solidFill>
                  <a:srgbClr val="0F172A"/>
                </a:solidFill>
                <a:latin typeface="PT Sans"/>
              </a:rPr>
              <a:t> (до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15%</a:t>
            </a:r>
            <a:r>
              <a:rPr sz="1400" b="0">
                <a:solidFill>
                  <a:srgbClr val="0F172A"/>
                </a:solidFill>
                <a:latin typeface="PT Sans"/>
              </a:rPr>
              <a:t> сухого веса) и белки </a:t>
            </a:r>
            <a:r>
              <a:rPr sz="1400" b="1">
                <a:solidFill>
                  <a:srgbClr val="0F172A"/>
                </a:solidFill>
                <a:latin typeface="PT Sans"/>
              </a:rPr>
              <a:t>SASPs</a:t>
            </a:r>
            <a:r>
              <a:rPr sz="1400" b="0">
                <a:solidFill>
                  <a:srgbClr val="0F172A"/>
                </a:solidFill>
                <a:latin typeface="PT Sans"/>
              </a:rPr>
              <a:t> (малые кислоторастворимые белки) связывают и стабилизируют ДНК.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4101084"/>
            <a:ext cx="5605272" cy="23454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63056" y="4229100"/>
            <a:ext cx="5166360" cy="20894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Кортекс, оболочка и экзоспориум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PT Sans"/>
              </a:rPr>
              <a:t>Кортекс</a:t>
            </a:r>
            <a:r>
              <a:rPr sz="1400" b="0">
                <a:solidFill>
                  <a:srgbClr val="0F172A"/>
                </a:solidFill>
                <a:latin typeface="PT Sans"/>
              </a:rPr>
              <a:t>: модифицированный пептидогликан низкой плотности с мурамовым лактамом, поддерживающий дегидратацию сердцевины. </a:t>
            </a:r>
            <a:r>
              <a:rPr sz="1400" b="1">
                <a:solidFill>
                  <a:srgbClr val="0F172A"/>
                </a:solidFill>
                <a:latin typeface="PT Sans"/>
              </a:rPr>
              <a:t>Споровая оболочка (Coat)</a:t>
            </a:r>
            <a:r>
              <a:rPr sz="1400" b="0">
                <a:solidFill>
                  <a:srgbClr val="0F172A"/>
                </a:solidFill>
                <a:latin typeface="PT Sans"/>
              </a:rPr>
              <a:t>: многослойный белковый панцирь с дисульфидными сшивками, защищающий от лизоцима и ферментов.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5: ЦИТОПЛАЗМА И ЭНДОСПОРЫ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28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Динамика спорообразования (спорогенез)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Генетически запрограммированные стадии I-VII трансформации клетки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72768"/>
            <a:ext cx="10908792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ig_20_endospore_form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7153" y="1645920"/>
            <a:ext cx="3114645" cy="2057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3739896"/>
            <a:ext cx="1090879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0">
                <a:solidFill>
                  <a:srgbClr val="475569"/>
                </a:solidFill>
                <a:latin typeface="PT Sans"/>
              </a:rPr>
              <a:t>Рис. 5.2. Стадии спорообразования у бактерий рода Bacillus (Prescott's Microbiology, Fig. 3.47)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114800"/>
            <a:ext cx="532180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" y="4242816"/>
            <a:ext cx="4919472" cy="2075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Стадии I-III: Асимметричное деление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При истощении нутриентов (углерода, азота) реплицированная ДНК образует осевую нить (I). Клеточная перегородка закладывается асимметрично (II). Материнская клетка поглощает предспору мембраной, окружая ее двойным липидным слоем (III).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7064" y="4114800"/>
            <a:ext cx="532180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28232" y="4242816"/>
            <a:ext cx="4919472" cy="2075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Стадии IV-VII: Созревание и лизис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Синтез пептидогликанового кортекса между двумя мембранами (IV). Формирование белковой споровой оболочки, синтез Ca-DPA и дегидратация (V). Завершение созревания терморезистентности (VI). Ферментативный лизис материнской клетки и выход свободной споры (VII).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5: ЦИТОПЛАЗМА И ЭНДОСПОРЫ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29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Термическая инактивация спор: параметры </a:t>
            </a:r>
            <a:r>
              <a:rPr sz="2400" b="1" i="1">
                <a:solidFill>
                  <a:srgbClr val="0F172A"/>
                </a:solidFill>
                <a:latin typeface="PT Sans"/>
              </a:rPr>
              <a:t>D</a:t>
            </a:r>
            <a:r>
              <a:rPr sz="1800" b="1" baseline="-25000">
                <a:solidFill>
                  <a:srgbClr val="0F172A"/>
                </a:solidFill>
                <a:latin typeface="PT Sans"/>
              </a:rPr>
              <a:t>T</a:t>
            </a:r>
            <a:r>
              <a:rPr sz="2400" b="1">
                <a:solidFill>
                  <a:srgbClr val="0F172A"/>
                </a:solidFill>
                <a:latin typeface="PT Sans"/>
              </a:rPr>
              <a:t> и </a:t>
            </a:r>
            <a:r>
              <a:rPr sz="2400" b="1" i="1">
                <a:solidFill>
                  <a:srgbClr val="0F172A"/>
                </a:solidFill>
                <a:latin typeface="PT Sans"/>
              </a:rPr>
              <a:t>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Кинетика логарифмической гибели спор и расчет тепловой стерилизации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72768"/>
            <a:ext cx="5321808" cy="4873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755648"/>
            <a:ext cx="4809744" cy="4507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Величина </a:t>
            </a:r>
            <a:r>
              <a:rPr sz="1650" b="1" i="1">
                <a:solidFill>
                  <a:srgbClr val="0F172A"/>
                </a:solidFill>
                <a:latin typeface="PT Sans"/>
              </a:rPr>
              <a:t>D</a:t>
            </a:r>
            <a:r>
              <a:rPr sz="1237" b="1" baseline="-25000">
                <a:solidFill>
                  <a:srgbClr val="0F172A"/>
                </a:solidFill>
                <a:latin typeface="PT Sans"/>
              </a:rPr>
              <a:t>T</a:t>
            </a:r>
            <a:r>
              <a:rPr sz="1650" b="1">
                <a:solidFill>
                  <a:srgbClr val="0F172A"/>
                </a:solidFill>
                <a:latin typeface="PT Sans"/>
              </a:rPr>
              <a:t> (Decimal Reduction Time)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Определение величины $D$:</a:t>
            </a:r>
            <a:r>
              <a:rPr sz="1400" b="0">
                <a:solidFill>
                  <a:srgbClr val="0F172A"/>
                </a:solidFill>
                <a:latin typeface="PT Sans"/>
              </a:rPr>
              <a:t> Время выдержки (в минутах) при заданной постоянной температуре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T</a:t>
            </a:r>
            <a:r>
              <a:rPr sz="1400" b="0">
                <a:solidFill>
                  <a:srgbClr val="0F172A"/>
                </a:solidFill>
                <a:latin typeface="PT Sans"/>
              </a:rPr>
              <a:t>, необходимое для снижения жизнеспособной популяции спор на один десятичный порядок (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90%</a:t>
            </a:r>
            <a:r>
              <a:rPr sz="1400" b="0">
                <a:solidFill>
                  <a:srgbClr val="0F172A"/>
                </a:solidFill>
                <a:latin typeface="PT Sans"/>
              </a:rPr>
              <a:t> погибших клеток).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Математическое выражение:</a:t>
            </a:r>
            <a:r>
              <a:rPr sz="1400" b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D</a:t>
            </a:r>
            <a:r>
              <a:rPr sz="1050" b="0" baseline="-25000">
                <a:solidFill>
                  <a:srgbClr val="0F172A"/>
                </a:solidFill>
                <a:latin typeface="PT Sans"/>
              </a:rPr>
              <a:t>T</a:t>
            </a:r>
            <a:r>
              <a:rPr sz="1400" b="0">
                <a:solidFill>
                  <a:srgbClr val="0F172A"/>
                </a:solidFill>
                <a:latin typeface="PT Sans"/>
              </a:rPr>
              <a:t> \log_{10}(N_0 / N_t) = t /, где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N_0</a:t>
            </a:r>
            <a:r>
              <a:rPr sz="1400" b="0">
                <a:solidFill>
                  <a:srgbClr val="0F172A"/>
                </a:solidFill>
                <a:latin typeface="PT Sans"/>
              </a:rPr>
              <a:t> - начальная микробная обсемененность,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N_t</a:t>
            </a:r>
            <a:r>
              <a:rPr sz="1400" b="0">
                <a:solidFill>
                  <a:srgbClr val="0F172A"/>
                </a:solidFill>
                <a:latin typeface="PT Sans"/>
              </a:rPr>
              <a:t> - конечная выжившая популяция за время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t</a:t>
            </a:r>
            <a:r>
              <a:rPr sz="1400" b="0">
                <a:solidFill>
                  <a:srgbClr val="0F172A"/>
                </a:solidFill>
                <a:latin typeface="PT Sans"/>
              </a:rPr>
              <a:t>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Пример референтного патогена:</a:t>
            </a:r>
            <a:r>
              <a:rPr sz="1400" b="0">
                <a:solidFill>
                  <a:srgbClr val="0F172A"/>
                </a:solidFill>
                <a:latin typeface="PT Sans"/>
              </a:rPr>
              <a:t> Для термостойких спор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Clostridium botulinum</a:t>
            </a:r>
            <a:r>
              <a:rPr sz="1400" b="0">
                <a:solidFill>
                  <a:srgbClr val="0F172A"/>
                </a:solidFill>
                <a:latin typeface="PT Sans"/>
              </a:rPr>
              <a:t> при температуре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121.1 град. C</a:t>
            </a:r>
            <a:r>
              <a:rPr sz="1400" b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250 град. F</a:t>
            </a:r>
            <a:r>
              <a:rPr sz="1400" b="0">
                <a:solidFill>
                  <a:srgbClr val="0F172A"/>
                </a:solidFill>
                <a:latin typeface="PT Sans"/>
              </a:rPr>
              <a:t>) величина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D</a:t>
            </a:r>
            <a:r>
              <a:rPr sz="1050" b="0" baseline="-25000">
                <a:solidFill>
                  <a:srgbClr val="0F172A"/>
                </a:solidFill>
                <a:latin typeface="PT Sans"/>
              </a:rPr>
              <a:t>121</a:t>
            </a:r>
            <a:r>
              <a:rPr sz="1400" b="0">
                <a:solidFill>
                  <a:srgbClr val="0F172A"/>
                </a:solidFill>
                <a:latin typeface="PT Sans"/>
              </a:rPr>
              <a:t> \approx 0.2\text{ мин}.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Концепция 12D-стерилизации:</a:t>
            </a:r>
            <a:r>
              <a:rPr sz="1400" b="0">
                <a:solidFill>
                  <a:srgbClr val="0F172A"/>
                </a:solidFill>
                <a:latin typeface="PT Sans"/>
              </a:rPr>
              <a:t> В консервной промышленности стандартом является режим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12D</a:t>
            </a:r>
            <a:r>
              <a:rPr sz="1400" b="0">
                <a:solidFill>
                  <a:srgbClr val="0F172A"/>
                </a:solidFill>
                <a:latin typeface="PT Sans"/>
              </a:rPr>
              <a:t> - термообработка, снижающая вероятность выживания спор до 10</a:t>
            </a:r>
            <a:r>
              <a:rPr sz="1050" b="0" baseline="30000">
                <a:solidFill>
                  <a:srgbClr val="0F172A"/>
                </a:solidFill>
                <a:latin typeface="PT Sans"/>
              </a:rPr>
              <a:t>-12</a:t>
            </a:r>
            <a:r>
              <a:rPr sz="1400" b="0">
                <a:solidFill>
                  <a:srgbClr val="0F172A"/>
                </a:solidFill>
                <a:latin typeface="PT Sans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572768"/>
            <a:ext cx="5321808" cy="4873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83096" y="1755648"/>
            <a:ext cx="4809744" cy="4507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Температурный коэффициент </a:t>
            </a:r>
            <a:r>
              <a:rPr sz="1650" b="1" i="1">
                <a:solidFill>
                  <a:srgbClr val="0F172A"/>
                </a:solidFill>
                <a:latin typeface="PT Sans"/>
              </a:rPr>
              <a:t>z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Определение величины $z$:</a:t>
            </a:r>
            <a:r>
              <a:rPr sz="1400" b="0">
                <a:solidFill>
                  <a:srgbClr val="0F172A"/>
                </a:solidFill>
                <a:latin typeface="PT Sans"/>
              </a:rPr>
              <a:t> Число градусов (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 град. C</a:t>
            </a:r>
            <a:r>
              <a:rPr sz="1400" b="0">
                <a:solidFill>
                  <a:srgbClr val="0F172A"/>
                </a:solidFill>
                <a:latin typeface="PT Sans"/>
              </a:rPr>
              <a:t>), на которое необходимо повысить температуру процесса, чтобы сократить значение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D</a:t>
            </a:r>
            <a:r>
              <a:rPr sz="1050" b="0" baseline="-25000">
                <a:solidFill>
                  <a:srgbClr val="0F172A"/>
                </a:solidFill>
                <a:latin typeface="PT Sans"/>
              </a:rPr>
              <a:t>T</a:t>
            </a:r>
            <a:r>
              <a:rPr sz="1400" b="0">
                <a:solidFill>
                  <a:srgbClr val="0F172A"/>
                </a:solidFill>
                <a:latin typeface="PT Sans"/>
              </a:rPr>
              <a:t> ровно в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10 раз</a:t>
            </a:r>
            <a:r>
              <a:rPr sz="1400" b="0">
                <a:solidFill>
                  <a:srgbClr val="0F172A"/>
                </a:solidFill>
                <a:latin typeface="PT Sans"/>
              </a:rPr>
              <a:t>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Уравнение температурной зависимости:</a:t>
            </a:r>
            <a:r>
              <a:rPr sz="1400" b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D</a:t>
            </a:r>
            <a:r>
              <a:rPr sz="1050" b="0" baseline="-25000">
                <a:solidFill>
                  <a:srgbClr val="0F172A"/>
                </a:solidFill>
                <a:latin typeface="PT Sans"/>
              </a:rPr>
              <a:t>1 / D_2) = (T_2 - T_1) / z</a:t>
            </a:r>
            <a:r>
              <a:rPr sz="1400" b="0">
                <a:solidFill>
                  <a:srgbClr val="0F172A"/>
                </a:solidFill>
                <a:latin typeface="PT Sans"/>
              </a:rPr>
              <a:t> \log_{10}(. Для спор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C. botulinum</a:t>
            </a:r>
            <a:r>
              <a:rPr sz="1400" b="0">
                <a:solidFill>
                  <a:srgbClr val="0F172A"/>
                </a:solidFill>
                <a:latin typeface="PT Sans"/>
              </a:rPr>
              <a:t> стандартное значение 10.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Стерилизующий эффект $F_0$:</a:t>
            </a:r>
            <a:r>
              <a:rPr sz="1400" b="0">
                <a:solidFill>
                  <a:srgbClr val="0F172A"/>
                </a:solidFill>
                <a:latin typeface="PT Sans"/>
              </a:rPr>
              <a:t> Эквивалентное время термической обработки в минутах при базисной температуре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121.1 град. C</a:t>
            </a:r>
            <a:r>
              <a:rPr sz="1400" b="0">
                <a:solidFill>
                  <a:srgbClr val="0F172A"/>
                </a:solidFill>
                <a:latin typeface="PT Sans"/>
              </a:rPr>
              <a:t>: 10.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Практическое значение:</a:t>
            </a:r>
            <a:r>
              <a:rPr sz="1400" b="0">
                <a:solidFill>
                  <a:srgbClr val="0F172A"/>
                </a:solidFill>
                <a:latin typeface="PT Sans"/>
              </a:rPr>
              <a:t> Знание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D</a:t>
            </a:r>
            <a:r>
              <a:rPr sz="1400" b="0">
                <a:solidFill>
                  <a:srgbClr val="0F172A"/>
                </a:solidFill>
                <a:latin typeface="PT Sans"/>
              </a:rPr>
              <a:t> и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z</a:t>
            </a:r>
            <a:r>
              <a:rPr sz="1400" b="0">
                <a:solidFill>
                  <a:srgbClr val="0F172A"/>
                </a:solidFill>
                <a:latin typeface="PT Sans"/>
              </a:rPr>
              <a:t> позволяет проектировать режимы стерилизации, гарантирующие микробиологическую безопасность без переваривания продукта.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6: ФИЗИОЛОГИЯ РОСТА И ФАКТОРЫ СРЕДЫ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30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Кинетика роста периодической культуры бактерий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Четыре канонические фазы роста замкнутой микробной популяции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72768"/>
            <a:ext cx="5321808" cy="4873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755648"/>
            <a:ext cx="4809744" cy="4507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Лаг-фаза и экспоненциальный рост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Лаг-фаза (Период адаптации):</a:t>
            </a:r>
            <a:r>
              <a:rPr sz="1400" b="0">
                <a:solidFill>
                  <a:srgbClr val="0F172A"/>
                </a:solidFill>
                <a:latin typeface="PT Sans"/>
              </a:rPr>
              <a:t> Число клеток не увеличивается; происходит индукция ферментных систем, синтез РНК, рибосом и коферментов для утилизации питательных веществ новой среды.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Экспоненциальная фаза (Лог-фаза):</a:t>
            </a:r>
            <a:r>
              <a:rPr sz="1400" b="0">
                <a:solidFill>
                  <a:srgbClr val="0F172A"/>
                </a:solidFill>
                <a:latin typeface="PT Sans"/>
              </a:rPr>
              <a:t> Клетки делятся с максимальной постоянной удельной скоростью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мк</a:t>
            </a:r>
            <a:r>
              <a:rPr sz="1400" b="0">
                <a:solidFill>
                  <a:srgbClr val="0F172A"/>
                </a:solidFill>
                <a:latin typeface="PT Sans"/>
              </a:rPr>
              <a:t>. Биомасса и число клеток удваиваются через постоянный интервал времени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g</a:t>
            </a:r>
            <a:r>
              <a:rPr sz="1400" b="0">
                <a:solidFill>
                  <a:srgbClr val="0F172A"/>
                </a:solidFill>
                <a:latin typeface="PT Sans"/>
              </a:rPr>
              <a:t> (время генерации).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Физиологическая однородность:</a:t>
            </a:r>
            <a:r>
              <a:rPr sz="1400" b="0">
                <a:solidFill>
                  <a:srgbClr val="0F172A"/>
                </a:solidFill>
                <a:latin typeface="PT Sans"/>
              </a:rPr>
              <a:t> В лог-фазе бактерии обладают максимальной метаболической активностью и наиболее чувствительны к антибиотикам и химическим агентам.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572768"/>
            <a:ext cx="5321808" cy="4873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83096" y="1755648"/>
            <a:ext cx="4809744" cy="4507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Стационарная фаза и отмирание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Стационарная фаза:</a:t>
            </a:r>
            <a:r>
              <a:rPr sz="1400" b="0">
                <a:solidFill>
                  <a:srgbClr val="0F172A"/>
                </a:solidFill>
                <a:latin typeface="PT Sans"/>
              </a:rPr>
              <a:t> Скорость деления клеток уравновешивается скоростью их гибели (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dX/dt = 0</a:t>
            </a:r>
            <a:r>
              <a:rPr sz="1400" b="0">
                <a:solidFill>
                  <a:srgbClr val="0F172A"/>
                </a:solidFill>
                <a:latin typeface="PT Sans"/>
              </a:rPr>
              <a:t>). Причины: исчерпание ключевого нутриента, накопление токсичных метаболитов, закисление среды.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Фаза отмирания (Лизис):</a:t>
            </a:r>
            <a:r>
              <a:rPr sz="1400" b="0">
                <a:solidFill>
                  <a:srgbClr val="0F172A"/>
                </a:solidFill>
                <a:latin typeface="PT Sans"/>
              </a:rPr>
              <a:t> Число жизнеспособных клеток экспоненциально снижается. Накапливаются автолитические ферменты; у спорообразующих видов индуцируется спорогенез.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Субпопуляции персисторов:</a:t>
            </a:r>
            <a:r>
              <a:rPr sz="1400" b="0">
                <a:solidFill>
                  <a:srgbClr val="0F172A"/>
                </a:solidFill>
                <a:latin typeface="PT Sans"/>
              </a:rPr>
              <a:t> Часть клеток переходит в некультивируемое состояние (VBNC), сохраняя потенциальную способность к реверсии при восстановлении условий.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6: ФИЗИОЛОГИЯ РОСТА И ФАКТОРЫ СРЕДЫ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31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Температурные адаптации микроорганизмов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Психрофилы, психротрофы, мезофилы и термофилы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72768"/>
            <a:ext cx="5321808" cy="4873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755648"/>
            <a:ext cx="4809744" cy="4507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Температурные группы микроорганизмов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Психрофилы:</a:t>
            </a:r>
            <a:r>
              <a:rPr sz="1400" b="0">
                <a:solidFill>
                  <a:srgbClr val="0F172A"/>
                </a:solidFill>
                <a:latin typeface="PT Sans"/>
              </a:rPr>
              <a:t> Облигатно холодолюбивые виды; оптимум роста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 &lt;=  15 град. C</a:t>
            </a:r>
            <a:r>
              <a:rPr sz="1400" b="0">
                <a:solidFill>
                  <a:srgbClr val="0F172A"/>
                </a:solidFill>
                <a:latin typeface="PT Sans"/>
              </a:rPr>
              <a:t>, максимум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 &lt;=  20 град. C</a:t>
            </a:r>
            <a:r>
              <a:rPr sz="1400" b="0">
                <a:solidFill>
                  <a:srgbClr val="0F172A"/>
                </a:solidFill>
                <a:latin typeface="PT Sans"/>
              </a:rPr>
              <a:t>, минимум ниже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0 град. C</a:t>
            </a:r>
            <a:r>
              <a:rPr sz="1400" b="0">
                <a:solidFill>
                  <a:srgbClr val="0F172A"/>
                </a:solidFill>
                <a:latin typeface="PT Sans"/>
              </a:rPr>
              <a:t>. Обитают в полярных водах и ледниках.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Психротрофы (Психротолерантные):</a:t>
            </a:r>
            <a:r>
              <a:rPr sz="1400" b="0">
                <a:solidFill>
                  <a:srgbClr val="0F172A"/>
                </a:solidFill>
                <a:latin typeface="PT Sans"/>
              </a:rPr>
              <a:t> Мезофилы, способные расти при температурах бытового холодильника (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0 - 7 град. C</a:t>
            </a:r>
            <a:r>
              <a:rPr sz="1400" b="0">
                <a:solidFill>
                  <a:srgbClr val="0F172A"/>
                </a:solidFill>
                <a:latin typeface="PT Sans"/>
              </a:rPr>
              <a:t>), имея оптимум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20 - 30 град. C</a:t>
            </a:r>
            <a:r>
              <a:rPr sz="1400" b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Listeria monocytogenes</a:t>
            </a:r>
            <a:r>
              <a:rPr sz="1400" b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Pseudomonas</a:t>
            </a:r>
            <a:r>
              <a:rPr sz="1400" b="0">
                <a:solidFill>
                  <a:srgbClr val="0F172A"/>
                </a:solidFill>
                <a:latin typeface="PT Sans"/>
              </a:rPr>
              <a:t>).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Мезофилы:</a:t>
            </a:r>
            <a:r>
              <a:rPr sz="1400" b="0">
                <a:solidFill>
                  <a:srgbClr val="0F172A"/>
                </a:solidFill>
                <a:latin typeface="PT Sans"/>
              </a:rPr>
              <a:t> Оптимум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25 - 40 град. C</a:t>
            </a:r>
            <a:r>
              <a:rPr sz="1400" b="0">
                <a:solidFill>
                  <a:srgbClr val="0F172A"/>
                </a:solidFill>
                <a:latin typeface="PT Sans"/>
              </a:rPr>
              <a:t>, диапазон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10 - 45 град. C</a:t>
            </a:r>
            <a:r>
              <a:rPr sz="1400" b="0">
                <a:solidFill>
                  <a:srgbClr val="0F172A"/>
                </a:solidFill>
                <a:latin typeface="PT Sans"/>
              </a:rPr>
              <a:t>. Включают большинство комменсалов человека и кишечных патогенов (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Salmonella</a:t>
            </a:r>
            <a:r>
              <a:rPr sz="1400" b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E. coli</a:t>
            </a:r>
            <a:r>
              <a:rPr sz="1400" b="0">
                <a:solidFill>
                  <a:srgbClr val="0F172A"/>
                </a:solidFill>
                <a:latin typeface="PT Sans"/>
              </a:rPr>
              <a:t>).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Термофилы и гипертермофилы:</a:t>
            </a:r>
            <a:r>
              <a:rPr sz="1400" b="0">
                <a:solidFill>
                  <a:srgbClr val="0F172A"/>
                </a:solidFill>
                <a:latin typeface="PT Sans"/>
              </a:rPr>
              <a:t> Термофилы: оптимум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55 - 65 град. C</a:t>
            </a:r>
            <a:r>
              <a:rPr sz="1400" b="0">
                <a:solidFill>
                  <a:srgbClr val="0F172A"/>
                </a:solidFill>
                <a:latin typeface="PT Sans"/>
              </a:rPr>
              <a:t>. Гипертермофильные археи: оптимум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80 - 105 град. C</a:t>
            </a:r>
            <a:r>
              <a:rPr sz="1400" b="0">
                <a:solidFill>
                  <a:srgbClr val="0F172A"/>
                </a:solidFill>
                <a:latin typeface="PT Sans"/>
              </a:rPr>
              <a:t> (гидротермальные источники).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572768"/>
            <a:ext cx="5321808" cy="4873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83096" y="1755648"/>
            <a:ext cx="4809744" cy="4507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Молекулярные механизмы термоадаптации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Белковая стабильность:</a:t>
            </a:r>
            <a:r>
              <a:rPr sz="1400" b="0">
                <a:solidFill>
                  <a:srgbClr val="0F172A"/>
                </a:solidFill>
                <a:latin typeface="PT Sans"/>
              </a:rPr>
              <a:t> Ферменты термофилов стабилизированы повышенным числом дисульфидных мостиков, солевых мостиков и гидрофобных контактов ядра.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Мембранная текучесть:</a:t>
            </a:r>
            <a:r>
              <a:rPr sz="1400" b="0">
                <a:solidFill>
                  <a:srgbClr val="0F172A"/>
                </a:solidFill>
                <a:latin typeface="PT Sans"/>
              </a:rPr>
              <a:t> Психротрофы поддерживают функциональное жидкое состояние мембран за счет ненасыщенных жирных кислот с разветвленной цепью.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Кардинальные температурные точки:</a:t>
            </a:r>
            <a:r>
              <a:rPr sz="1400" b="0">
                <a:solidFill>
                  <a:srgbClr val="0F172A"/>
                </a:solidFill>
                <a:latin typeface="PT Sans"/>
              </a:rPr>
              <a:t> Каждый вид характеризуется тремя точками: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T_{\min}</a:t>
            </a:r>
            <a:r>
              <a:rPr sz="1400" b="0">
                <a:solidFill>
                  <a:srgbClr val="0F172A"/>
                </a:solidFill>
                <a:latin typeface="PT Sans"/>
              </a:rPr>
              <a:t> (затвердевание мембран),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T_{opt}</a:t>
            </a:r>
            <a:r>
              <a:rPr sz="1400" b="0">
                <a:solidFill>
                  <a:srgbClr val="0F172A"/>
                </a:solidFill>
                <a:latin typeface="PT Sans"/>
              </a:rPr>
              <a:t> (максимум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мк</a:t>
            </a:r>
            <a:r>
              <a:rPr sz="1400" b="0">
                <a:solidFill>
                  <a:srgbClr val="0F172A"/>
                </a:solidFill>
                <a:latin typeface="PT Sans"/>
              </a:rPr>
              <a:t>),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T_{\max}</a:t>
            </a:r>
            <a:r>
              <a:rPr sz="1400" b="0">
                <a:solidFill>
                  <a:srgbClr val="0F172A"/>
                </a:solidFill>
                <a:latin typeface="PT Sans"/>
              </a:rPr>
              <a:t> (термоденатурация белков).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6: ФИЗИОЛОГИЯ РОСТА И ФАКТОРЫ СРЕДЫ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32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Активность воды (</a:t>
            </a:r>
            <a:r>
              <a:rPr sz="2400" b="1" i="1">
                <a:solidFill>
                  <a:srgbClr val="0F172A"/>
                </a:solidFill>
                <a:latin typeface="PT Sans"/>
              </a:rPr>
              <a:t>a</a:t>
            </a:r>
            <a:r>
              <a:rPr sz="1800" b="1" i="1" baseline="-25000">
                <a:solidFill>
                  <a:srgbClr val="0F172A"/>
                </a:solidFill>
                <a:latin typeface="PT Sans"/>
              </a:rPr>
              <a:t>w</a:t>
            </a:r>
            <a:r>
              <a:rPr sz="2400" b="1">
                <a:solidFill>
                  <a:srgbClr val="0F172A"/>
                </a:solidFill>
                <a:latin typeface="PT Sans"/>
              </a:rPr>
              <a:t>) и осмотический стресс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Термодинамический критерий доступности влаги и пределы роста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72768"/>
            <a:ext cx="5321808" cy="4873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755648"/>
            <a:ext cx="4809744" cy="4507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Термодинамика активности воды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Определение показателя $a_w$:</a:t>
            </a:r>
            <a:r>
              <a:rPr sz="1400" b="0">
                <a:solidFill>
                  <a:srgbClr val="0F172A"/>
                </a:solidFill>
                <a:latin typeface="PT Sans"/>
              </a:rPr>
              <a:t> Отношение парциального давления водяного пара над продуктом (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p</a:t>
            </a:r>
            <a:r>
              <a:rPr sz="1400" b="0">
                <a:solidFill>
                  <a:srgbClr val="0F172A"/>
                </a:solidFill>
                <a:latin typeface="PT Sans"/>
              </a:rPr>
              <a:t>) к давлению пара над чистой дистиллированной водой (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p_0</a:t>
            </a:r>
            <a:r>
              <a:rPr sz="1400" b="0">
                <a:solidFill>
                  <a:srgbClr val="0F172A"/>
                </a:solidFill>
                <a:latin typeface="PT Sans"/>
              </a:rPr>
              <a:t>) при равной температуре: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a</a:t>
            </a:r>
            <a:r>
              <a:rPr sz="1050" b="0" i="1" baseline="-25000">
                <a:solidFill>
                  <a:srgbClr val="0F172A"/>
                </a:solidFill>
                <a:latin typeface="PT Sans"/>
              </a:rPr>
              <a:t>w</a:t>
            </a:r>
            <a:r>
              <a:rPr sz="1400" b="0">
                <a:solidFill>
                  <a:srgbClr val="0F172A"/>
                </a:solidFill>
                <a:latin typeface="PT Sans"/>
              </a:rPr>
              <a:t> = p / p_0.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Влажность равновесия (ERH):</a:t>
            </a:r>
            <a:r>
              <a:rPr sz="1400" b="0">
                <a:solidFill>
                  <a:srgbClr val="0F172A"/>
                </a:solidFill>
                <a:latin typeface="PT Sans"/>
              </a:rPr>
              <a:t> Связана с относительной влажностью воздуха формулой: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a</a:t>
            </a:r>
            <a:r>
              <a:rPr sz="1050" b="0" i="1" baseline="-25000">
                <a:solidFill>
                  <a:srgbClr val="0F172A"/>
                </a:solidFill>
                <a:latin typeface="PT Sans"/>
              </a:rPr>
              <a:t>w</a:t>
            </a:r>
            <a:r>
              <a:rPr sz="1400" b="0">
                <a:solidFill>
                  <a:srgbClr val="0F172A"/>
                </a:solidFill>
                <a:latin typeface="PT Sans"/>
              </a:rPr>
              <a:t> \mathrm{ERH} =  \times 100\%.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Осмотическое давление:</a:t>
            </a:r>
            <a:r>
              <a:rPr sz="1400" b="0">
                <a:solidFill>
                  <a:srgbClr val="0F172A"/>
                </a:solidFill>
                <a:latin typeface="PT Sans"/>
              </a:rPr>
              <a:t> Снижение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a</a:t>
            </a:r>
            <a:r>
              <a:rPr sz="1050" b="0" i="1" baseline="-25000">
                <a:solidFill>
                  <a:srgbClr val="0F172A"/>
                </a:solidFill>
                <a:latin typeface="PT Sans"/>
              </a:rPr>
              <a:t>w</a:t>
            </a:r>
            <a:r>
              <a:rPr sz="1400" b="0">
                <a:solidFill>
                  <a:srgbClr val="0F172A"/>
                </a:solidFill>
                <a:latin typeface="PT Sans"/>
              </a:rPr>
              <a:t> растворением сахаров или солей приводит к оттоку воды из клетки через аквапорины, плазмолизу цитоплазмы и остановке метаболизма.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Осмопротекторы:</a:t>
            </a:r>
            <a:r>
              <a:rPr sz="1400" b="0">
                <a:solidFill>
                  <a:srgbClr val="0F172A"/>
                </a:solidFill>
                <a:latin typeface="PT Sans"/>
              </a:rPr>
              <a:t> Галотолерантные бактерии накапливают совместимые растворенные вещества (бетаин, пролин, трегалозу), предотвращая обезвоживание.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572768"/>
            <a:ext cx="5321808" cy="4873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83096" y="1755648"/>
            <a:ext cx="4809744" cy="4507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Минимальные критические пороги </a:t>
            </a:r>
            <a:r>
              <a:rPr sz="1650" b="1" i="1">
                <a:solidFill>
                  <a:srgbClr val="0F172A"/>
                </a:solidFill>
                <a:latin typeface="PT Sans"/>
              </a:rPr>
              <a:t>a</a:t>
            </a:r>
            <a:r>
              <a:rPr sz="1237" b="1" i="1" baseline="-25000">
                <a:solidFill>
                  <a:srgbClr val="0F172A"/>
                </a:solidFill>
                <a:latin typeface="PT Sans"/>
              </a:rPr>
              <a:t>w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Грамотрицательные бактерии:</a:t>
            </a:r>
            <a:r>
              <a:rPr sz="1400" b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a</a:t>
            </a:r>
            <a:r>
              <a:rPr sz="1050" b="0" i="1" baseline="-25000">
                <a:solidFill>
                  <a:srgbClr val="0F172A"/>
                </a:solidFill>
                <a:latin typeface="PT Sans"/>
              </a:rPr>
              <a:t>w</a:t>
            </a:r>
            <a:r>
              <a:rPr sz="1400" b="0">
                <a:solidFill>
                  <a:srgbClr val="0F172A"/>
                </a:solidFill>
                <a:latin typeface="PT Sans"/>
              </a:rPr>
              <a:t>  &gt;=  0.95 (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Pseudomonas</a:t>
            </a:r>
            <a:r>
              <a:rPr sz="1400" b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E. coli</a:t>
            </a:r>
            <a:r>
              <a:rPr sz="1400" b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Salmonella</a:t>
            </a:r>
            <a:r>
              <a:rPr sz="1400" b="0">
                <a:solidFill>
                  <a:srgbClr val="0F172A"/>
                </a:solidFill>
                <a:latin typeface="PT Sans"/>
              </a:rPr>
              <a:t> требуют высокой доступности свободной воды).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Грамположительные палочки:</a:t>
            </a:r>
            <a:r>
              <a:rPr sz="1400" b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a</a:t>
            </a:r>
            <a:r>
              <a:rPr sz="1050" b="0" i="1" baseline="-25000">
                <a:solidFill>
                  <a:srgbClr val="0F172A"/>
                </a:solidFill>
                <a:latin typeface="PT Sans"/>
              </a:rPr>
              <a:t>w</a:t>
            </a:r>
            <a:r>
              <a:rPr sz="1400" b="0">
                <a:solidFill>
                  <a:srgbClr val="0F172A"/>
                </a:solidFill>
                <a:latin typeface="PT Sans"/>
              </a:rPr>
              <a:t>  &gt;=  0.93 (спорообразующие бациллы и клостридии прекращают рост при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a</a:t>
            </a:r>
            <a:r>
              <a:rPr sz="1050" b="0" i="1" baseline="-25000">
                <a:solidFill>
                  <a:srgbClr val="0F172A"/>
                </a:solidFill>
                <a:latin typeface="PT Sans"/>
              </a:rPr>
              <a:t>w</a:t>
            </a:r>
            <a:r>
              <a:rPr sz="1400" b="0">
                <a:solidFill>
                  <a:srgbClr val="0F172A"/>
                </a:solidFill>
                <a:latin typeface="PT Sans"/>
              </a:rPr>
              <a:t> &lt; 0.93).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Золотистый стафилококк:</a:t>
            </a:r>
            <a:r>
              <a:rPr sz="1400" b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a</a:t>
            </a:r>
            <a:r>
              <a:rPr sz="1050" b="0" i="1" baseline="-25000">
                <a:solidFill>
                  <a:srgbClr val="0F172A"/>
                </a:solidFill>
                <a:latin typeface="PT Sans"/>
              </a:rPr>
              <a:t>w</a:t>
            </a:r>
            <a:r>
              <a:rPr sz="1400" b="0">
                <a:solidFill>
                  <a:srgbClr val="0F172A"/>
                </a:solidFill>
                <a:latin typeface="PT Sans"/>
              </a:rPr>
              <a:t>  &gt;=  0.86 (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Staphylococcus aureus</a:t>
            </a:r>
            <a:r>
              <a:rPr sz="1400" b="0">
                <a:solidFill>
                  <a:srgbClr val="0F172A"/>
                </a:solidFill>
                <a:latin typeface="PT Sans"/>
              </a:rPr>
              <a:t> - наиболее галотолерантный патоген, размножается в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10% NaCl</a:t>
            </a:r>
            <a:r>
              <a:rPr sz="1400" b="0">
                <a:solidFill>
                  <a:srgbClr val="0F172A"/>
                </a:solidFill>
                <a:latin typeface="PT Sans"/>
              </a:rPr>
              <a:t>).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Дрожжи и плесени:</a:t>
            </a:r>
            <a:r>
              <a:rPr sz="1400" b="0">
                <a:solidFill>
                  <a:srgbClr val="0F172A"/>
                </a:solidFill>
                <a:latin typeface="PT Sans"/>
              </a:rPr>
              <a:t> Обычные дрожжи: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a</a:t>
            </a:r>
            <a:r>
              <a:rPr sz="1050" b="0" i="1" baseline="-25000">
                <a:solidFill>
                  <a:srgbClr val="0F172A"/>
                </a:solidFill>
                <a:latin typeface="PT Sans"/>
              </a:rPr>
              <a:t>w</a:t>
            </a:r>
            <a:r>
              <a:rPr sz="1400" b="0">
                <a:solidFill>
                  <a:srgbClr val="0F172A"/>
                </a:solidFill>
                <a:latin typeface="PT Sans"/>
              </a:rPr>
              <a:t>  &gt;=  0.88; плесени: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a</a:t>
            </a:r>
            <a:r>
              <a:rPr sz="1050" b="0" i="1" baseline="-25000">
                <a:solidFill>
                  <a:srgbClr val="0F172A"/>
                </a:solidFill>
                <a:latin typeface="PT Sans"/>
              </a:rPr>
              <a:t>w</a:t>
            </a:r>
            <a:r>
              <a:rPr sz="1400" b="0">
                <a:solidFill>
                  <a:srgbClr val="0F172A"/>
                </a:solidFill>
                <a:latin typeface="PT Sans"/>
              </a:rPr>
              <a:t>  &gt;=  0.80. Осмофильные дрожжи и ксерофильные плесени растут при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a</a:t>
            </a:r>
            <a:r>
              <a:rPr sz="1050" b="0" i="1" baseline="-25000">
                <a:solidFill>
                  <a:srgbClr val="0F172A"/>
                </a:solidFill>
                <a:latin typeface="PT Sans"/>
              </a:rPr>
              <a:t>w</a:t>
            </a:r>
            <a:r>
              <a:rPr sz="1400" b="0">
                <a:solidFill>
                  <a:srgbClr val="0F172A"/>
                </a:solidFill>
                <a:latin typeface="PT Sans"/>
              </a:rPr>
              <a:t>  &gt;=  0.60 - 0.65.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6: ФИЗИОЛОГИЯ РОСТА И ФАКТОРЫ СРЕДЫ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33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Влияние pH и кислородные потребности микроорганизмов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Ионный гомеостаз и типы энергетического метаболизма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72768"/>
            <a:ext cx="5321808" cy="4873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755648"/>
            <a:ext cx="4809744" cy="4507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Классификация по оптимуму pH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Нейтрофилы:</a:t>
            </a:r>
            <a:r>
              <a:rPr sz="1400" b="0">
                <a:solidFill>
                  <a:srgbClr val="0F172A"/>
                </a:solidFill>
                <a:latin typeface="PT Sans"/>
              </a:rPr>
              <a:t> Оптимум pH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6.0 - 8.0</a:t>
            </a:r>
            <a:r>
              <a:rPr sz="1400" b="0">
                <a:solidFill>
                  <a:srgbClr val="0F172A"/>
                </a:solidFill>
                <a:latin typeface="PT Sans"/>
              </a:rPr>
              <a:t>. Включают большинство патогенных бактерий. Поддерживают нейтральный цитоплазматический pH за счет протонных насосов.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Ацидофилы:</a:t>
            </a:r>
            <a:r>
              <a:rPr sz="1400" b="0">
                <a:solidFill>
                  <a:srgbClr val="0F172A"/>
                </a:solidFill>
                <a:latin typeface="PT Sans"/>
              </a:rPr>
              <a:t> Оптимум pH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1.0 - 5.5</a:t>
            </a:r>
            <a:r>
              <a:rPr sz="1400" b="0">
                <a:solidFill>
                  <a:srgbClr val="0F172A"/>
                </a:solidFill>
                <a:latin typeface="PT Sans"/>
              </a:rPr>
              <a:t>. Молочнокислые и уксуснокислые бактерии, многие плесневые грибы и дрожжи толерантны к высоким концентрациям ионов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H^+</a:t>
            </a:r>
            <a:r>
              <a:rPr sz="1400" b="0">
                <a:solidFill>
                  <a:srgbClr val="0F172A"/>
                </a:solidFill>
                <a:latin typeface="PT Sans"/>
              </a:rPr>
              <a:t>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Алкалифилы:</a:t>
            </a:r>
            <a:r>
              <a:rPr sz="1400" b="0">
                <a:solidFill>
                  <a:srgbClr val="0F172A"/>
                </a:solidFill>
                <a:latin typeface="PT Sans"/>
              </a:rPr>
              <a:t> Оптимум pH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8.5 - 11.5</a:t>
            </a:r>
            <a:r>
              <a:rPr sz="1400" b="0">
                <a:solidFill>
                  <a:srgbClr val="0F172A"/>
                </a:solidFill>
                <a:latin typeface="PT Sans"/>
              </a:rPr>
              <a:t>. Обитают в содовых озерах и карбонатных почвах; используют натриевый потенциал (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\Deltaмк_{Na^+}</a:t>
            </a:r>
            <a:r>
              <a:rPr sz="1400" b="0">
                <a:solidFill>
                  <a:srgbClr val="0F172A"/>
                </a:solidFill>
                <a:latin typeface="PT Sans"/>
              </a:rPr>
              <a:t>) для транспорта.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572768"/>
            <a:ext cx="5321808" cy="4873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83096" y="1755648"/>
            <a:ext cx="4809744" cy="4507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Отношение к молекулярному кислороду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Облигатные аэробы:</a:t>
            </a:r>
            <a:r>
              <a:rPr sz="1400" b="0">
                <a:solidFill>
                  <a:srgbClr val="0F172A"/>
                </a:solidFill>
                <a:latin typeface="PT Sans"/>
              </a:rPr>
              <a:t> Требуют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O_2</a:t>
            </a:r>
            <a:r>
              <a:rPr sz="1400" b="0">
                <a:solidFill>
                  <a:srgbClr val="0F172A"/>
                </a:solidFill>
                <a:latin typeface="PT Sans"/>
              </a:rPr>
              <a:t> как конечный акцептор электронов в дыхательной цепи (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Pseudomonas</a:t>
            </a:r>
            <a:r>
              <a:rPr sz="1400" b="0">
                <a:solidFill>
                  <a:srgbClr val="0F172A"/>
                </a:solidFill>
                <a:latin typeface="PT Sans"/>
              </a:rPr>
              <a:t>). Имеют каталазу и супероксиддисмутазу (СОД).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Факультативные анаэробы:</a:t>
            </a:r>
            <a:r>
              <a:rPr sz="1400" b="0">
                <a:solidFill>
                  <a:srgbClr val="0F172A"/>
                </a:solidFill>
                <a:latin typeface="PT Sans"/>
              </a:rPr>
              <a:t> Используют дыхание в присутствии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O_2</a:t>
            </a:r>
            <a:r>
              <a:rPr sz="1400" b="0">
                <a:solidFill>
                  <a:srgbClr val="0F172A"/>
                </a:solidFill>
                <a:latin typeface="PT Sans"/>
              </a:rPr>
              <a:t>, но переключаются на брожение или анаэробное дыхание без него (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Enterobacteriaceae</a:t>
            </a:r>
            <a:r>
              <a:rPr sz="1400" b="0">
                <a:solidFill>
                  <a:srgbClr val="0F172A"/>
                </a:solidFill>
                <a:latin typeface="PT Sans"/>
              </a:rPr>
              <a:t>).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Облигатные анаэробы:</a:t>
            </a:r>
            <a:r>
              <a:rPr sz="1400" b="0">
                <a:solidFill>
                  <a:srgbClr val="0F172A"/>
                </a:solidFill>
                <a:latin typeface="PT Sans"/>
              </a:rPr>
              <a:t> Кислород токсичен; ферменты защиты отсутствуют (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Clostridium botulinum</a:t>
            </a:r>
            <a:r>
              <a:rPr sz="1400" b="0">
                <a:solidFill>
                  <a:srgbClr val="0F172A"/>
                </a:solidFill>
                <a:latin typeface="PT Sans"/>
              </a:rPr>
              <a:t> погибает от реактивных форм кислорода).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Микроаэрофилы:</a:t>
            </a:r>
            <a:r>
              <a:rPr sz="1400" b="0">
                <a:solidFill>
                  <a:srgbClr val="0F172A"/>
                </a:solidFill>
                <a:latin typeface="PT Sans"/>
              </a:rPr>
              <a:t> Требуют пониженную концентрацию кислорода (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2 - 10% O_2</a:t>
            </a:r>
            <a:r>
              <a:rPr sz="1400" b="0">
                <a:solidFill>
                  <a:srgbClr val="0F172A"/>
                </a:solidFill>
                <a:latin typeface="PT Sans"/>
              </a:rPr>
              <a:t>) и повышенный уровень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CO_2</a:t>
            </a:r>
            <a:r>
              <a:rPr sz="1400" b="0">
                <a:solidFill>
                  <a:srgbClr val="0F172A"/>
                </a:solidFill>
                <a:latin typeface="PT Sans"/>
              </a:rPr>
              <a:t> (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Campylobacter jejuni</a:t>
            </a:r>
            <a:r>
              <a:rPr sz="1400" b="0">
                <a:solidFill>
                  <a:srgbClr val="0F172A"/>
                </a:solidFill>
                <a:latin typeface="PT Sans"/>
              </a:rPr>
              <a:t>).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6: ФИЗИОЛОГИЯ РОСТА И ФАКТОРЫ СРЕДЫ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34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Концепция барьерных технологий (Hurdle Technology)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Мультитаргетное синергетическое подавление микроорганизмов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72768"/>
            <a:ext cx="5321808" cy="4873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755648"/>
            <a:ext cx="4809744" cy="4507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Принцип синергетического барьера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Концепция Лайстнера:</a:t>
            </a:r>
            <a:r>
              <a:rPr sz="1400" b="0">
                <a:solidFill>
                  <a:srgbClr val="0F172A"/>
                </a:solidFill>
                <a:latin typeface="PT Sans"/>
              </a:rPr>
              <a:t> Комбинирование нескольких умеренных консервирующих факторов вместо одного жесткого воздействия, разрушающего структуру и питательную ценность продукта.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Нарушение гомеостаза:</a:t>
            </a:r>
            <a:r>
              <a:rPr sz="1400" b="0">
                <a:solidFill>
                  <a:srgbClr val="0F172A"/>
                </a:solidFill>
                <a:latin typeface="PT Sans"/>
              </a:rPr>
              <a:t> Каждый барьер воздействует на независимую мишень: мембрану, редокс-потенциал, синтез АТФ или активность ферментов.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Метаболическое истощение:</a:t>
            </a:r>
            <a:r>
              <a:rPr sz="1400" b="0">
                <a:solidFill>
                  <a:srgbClr val="0F172A"/>
                </a:solidFill>
                <a:latin typeface="PT Sans"/>
              </a:rPr>
              <a:t> Клетка затрачивает всю доступную энергию на откачку протонов и удержание ионов, что приводит к метаболическому коллапсу и гибели.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572768"/>
            <a:ext cx="5321808" cy="4873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83096" y="1755648"/>
            <a:ext cx="4809744" cy="4507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Основные технологические барьеры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Температурный барьер (F / T):</a:t>
            </a:r>
            <a:r>
              <a:rPr sz="1400" b="0">
                <a:solidFill>
                  <a:srgbClr val="0F172A"/>
                </a:solidFill>
                <a:latin typeface="PT Sans"/>
              </a:rPr>
              <a:t> Пастеризация или охлаждение до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0 - 4 град. C</a:t>
            </a:r>
            <a:r>
              <a:rPr sz="1400" b="0">
                <a:solidFill>
                  <a:srgbClr val="0F172A"/>
                </a:solidFill>
                <a:latin typeface="PT Sans"/>
              </a:rPr>
              <a:t> замедляет ферментативные реакции в клетке.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Водный барьер (aw):</a:t>
            </a:r>
            <a:r>
              <a:rPr sz="1400" b="0">
                <a:solidFill>
                  <a:srgbClr val="0F172A"/>
                </a:solidFill>
                <a:latin typeface="PT Sans"/>
              </a:rPr>
              <a:t> Снижение свободной воды добавлением соли (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NaCl</a:t>
            </a:r>
            <a:r>
              <a:rPr sz="1400" b="0">
                <a:solidFill>
                  <a:srgbClr val="0F172A"/>
                </a:solidFill>
                <a:latin typeface="PT Sans"/>
              </a:rPr>
              <a:t>) или сахарозы вызывает осмотический стресс.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Кислотный барьер (pH):</a:t>
            </a:r>
            <a:r>
              <a:rPr sz="1400" b="0">
                <a:solidFill>
                  <a:srgbClr val="0F172A"/>
                </a:solidFill>
                <a:latin typeface="PT Sans"/>
              </a:rPr>
              <a:t> Органические кислоты (молочная, сорбиновая) проникают через мембрану в недиссоциированной форме, закисляя цитоплазму.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Газовая среда (Eh):</a:t>
            </a:r>
            <a:r>
              <a:rPr sz="1400" b="0">
                <a:solidFill>
                  <a:srgbClr val="0F172A"/>
                </a:solidFill>
                <a:latin typeface="PT Sans"/>
              </a:rPr>
              <a:t> Модифицированная газовая атмосфера (МГС) с повышенным содержанием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CO_2</a:t>
            </a:r>
            <a:r>
              <a:rPr sz="1400" b="0">
                <a:solidFill>
                  <a:srgbClr val="0F172A"/>
                </a:solidFill>
                <a:latin typeface="PT Sans"/>
              </a:rPr>
              <a:t> и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N_2</a:t>
            </a:r>
            <a:r>
              <a:rPr sz="1400" b="0">
                <a:solidFill>
                  <a:srgbClr val="0F172A"/>
                </a:solidFill>
                <a:latin typeface="PT Sans"/>
              </a:rPr>
              <a:t> подавляет дыхание аэробов.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7: МОРФОЛОГИЯ И БИОЛОГИЯ ГРИБОВ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35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Дрожжи: клеточная организация и вегетативное почкование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Морфология одноклеточных микромицетов и рубцы почкования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72768"/>
            <a:ext cx="5029200" cy="4873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ig_21_yeast_bud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82496"/>
            <a:ext cx="4663440" cy="358675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12648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0">
                <a:solidFill>
                  <a:srgbClr val="475569"/>
                </a:solidFill>
                <a:latin typeface="PT Sans"/>
              </a:rPr>
              <a:t>Рис. 7.1. Электронная микрофотография почкующихся дрожжей Saccharomyces cerevisiae и рубцов почкования (Prescott's Microbiology, Fig. 24.9a)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572768"/>
            <a:ext cx="5605272" cy="23454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63056" y="1700784"/>
            <a:ext cx="5166360" cy="20894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Организация клетки Saccharomyces cerevisiae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Одноклеточные эукариоты овальной формы размером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5 - 10 мкм</a:t>
            </a:r>
            <a:r>
              <a:rPr sz="1400" b="0">
                <a:solidFill>
                  <a:srgbClr val="0F172A"/>
                </a:solidFill>
                <a:latin typeface="PT Sans"/>
              </a:rPr>
              <a:t>. Клеточная стенка толщиной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100 - 200 нм</a:t>
            </a:r>
            <a:r>
              <a:rPr sz="1400" b="0">
                <a:solidFill>
                  <a:srgbClr val="0F172A"/>
                </a:solidFill>
                <a:latin typeface="PT Sans"/>
              </a:rPr>
              <a:t> состоит из сети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бета-</a:t>
            </a:r>
            <a:r>
              <a:rPr sz="1400" b="0">
                <a:solidFill>
                  <a:srgbClr val="0F172A"/>
                </a:solidFill>
                <a:latin typeface="PT Sans"/>
              </a:rPr>
              <a:t>-глюканов, маннопротеинов и хитина. В цитоплазме имеется ядро, вакуоль, митохондрии и липидные капли.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4101084"/>
            <a:ext cx="5605272" cy="23454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63056" y="4229100"/>
            <a:ext cx="5166360" cy="20894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Механизм вегетативного почкования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Материнская клетка локально размягчает клеточную стенку; дочерняя почка увеличивается, туда мигрирует реплицированное ядро. После цитокинеза синтезируется хитиновый септальный слой, оставляющий постоянный </a:t>
            </a:r>
            <a:r>
              <a:rPr sz="1400" b="1">
                <a:solidFill>
                  <a:srgbClr val="0F172A"/>
                </a:solidFill>
                <a:latin typeface="PT Sans"/>
              </a:rPr>
              <a:t>рубец почкования (bud scar)</a:t>
            </a:r>
            <a:r>
              <a:rPr sz="1400" b="0">
                <a:solidFill>
                  <a:srgbClr val="0F172A"/>
                </a:solidFill>
                <a:latin typeface="PT Sans"/>
              </a:rPr>
              <a:t>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7: МОРФОЛОГИЯ И БИОЛОГИЯ ГРИБОВ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36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Физиология и метаболизм сахаромицетов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Спиртовое брожение, эффект Пастера и микроорганизмы порчи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72768"/>
            <a:ext cx="5321808" cy="4873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755648"/>
            <a:ext cx="4809744" cy="4507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Метаболизм спиртового брожения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Гликолиз и сбраживание:</a:t>
            </a:r>
            <a:r>
              <a:rPr sz="1400" b="0">
                <a:solidFill>
                  <a:srgbClr val="0F172A"/>
                </a:solidFill>
                <a:latin typeface="PT Sans"/>
              </a:rPr>
              <a:t> В анаэробных условиях глюкоза расщепляется по гликолитическому пути Эмбдена-Мейергофа до пирувата, который декарбоксилируется до ацетальдегида и восстанавливается в этанол: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C_6H_{12}O_6  -&gt;  2C_2H_5OH + 2CO_2</a:t>
            </a:r>
            <a:r>
              <a:rPr sz="1400" b="0">
                <a:solidFill>
                  <a:srgbClr val="0F172A"/>
                </a:solidFill>
                <a:latin typeface="PT Sans"/>
              </a:rPr>
              <a:t>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Эффект Пастера:</a:t>
            </a:r>
            <a:r>
              <a:rPr sz="1400" b="0">
                <a:solidFill>
                  <a:srgbClr val="0F172A"/>
                </a:solidFill>
                <a:latin typeface="PT Sans"/>
              </a:rPr>
              <a:t> В присутствии кислорода спиртовое брожение подавляется; клетка переключается на полное аэробное окисление с более высоким выходом АТФ (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36 - 38 АТФ</a:t>
            </a:r>
            <a:r>
              <a:rPr sz="1400" b="0">
                <a:solidFill>
                  <a:srgbClr val="0F172A"/>
                </a:solidFill>
                <a:latin typeface="PT Sans"/>
              </a:rPr>
              <a:t> против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2 АТФ</a:t>
            </a:r>
            <a:r>
              <a:rPr sz="1400" b="0">
                <a:solidFill>
                  <a:srgbClr val="0F172A"/>
                </a:solidFill>
                <a:latin typeface="PT Sans"/>
              </a:rPr>
              <a:t>).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Эффект Крэбтри:</a:t>
            </a:r>
            <a:r>
              <a:rPr sz="1400" b="0">
                <a:solidFill>
                  <a:srgbClr val="0F172A"/>
                </a:solidFill>
                <a:latin typeface="PT Sans"/>
              </a:rPr>
              <a:t> При высокой концентрации глюкозы (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&gt; 0.1 г/л</a:t>
            </a:r>
            <a:r>
              <a:rPr sz="1400" b="0">
                <a:solidFill>
                  <a:srgbClr val="0F172A"/>
                </a:solidFill>
                <a:latin typeface="PT Sans"/>
              </a:rPr>
              <a:t>) дрожжи сбраживают сахара в этанол даже при наличии кислорода.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572768"/>
            <a:ext cx="5321808" cy="4873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83096" y="1755648"/>
            <a:ext cx="4809744" cy="4507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Дрожжи как возбудители порчи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Осмофильные виды:</a:t>
            </a:r>
            <a:r>
              <a:rPr sz="1400" b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Zygosaccharomyces bailii</a:t>
            </a:r>
            <a:r>
              <a:rPr sz="1400" b="0">
                <a:solidFill>
                  <a:srgbClr val="0F172A"/>
                </a:solidFill>
                <a:latin typeface="PT Sans"/>
              </a:rPr>
              <a:t> и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Z. rouxii</a:t>
            </a:r>
            <a:r>
              <a:rPr sz="1400" b="0">
                <a:solidFill>
                  <a:srgbClr val="0F172A"/>
                </a:solidFill>
                <a:latin typeface="PT Sans"/>
              </a:rPr>
              <a:t> размножаются при низкой активности воды (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a</a:t>
            </a:r>
            <a:r>
              <a:rPr sz="1050" b="0" i="1" baseline="-25000">
                <a:solidFill>
                  <a:srgbClr val="0F172A"/>
                </a:solidFill>
                <a:latin typeface="PT Sans"/>
              </a:rPr>
              <a:t>w</a:t>
            </a:r>
            <a:r>
              <a:rPr sz="1400" b="0">
                <a:solidFill>
                  <a:srgbClr val="0F172A"/>
                </a:solidFill>
                <a:latin typeface="PT Sans"/>
              </a:rPr>
              <a:t>  &gt;=  0.65), сбраживая концентраты соков, меда и варенья с выделением газа.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Пленочные дрожжи:</a:t>
            </a:r>
            <a:r>
              <a:rPr sz="1400" b="0">
                <a:solidFill>
                  <a:srgbClr val="0F172A"/>
                </a:solidFill>
                <a:latin typeface="PT Sans"/>
              </a:rPr>
              <a:t>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Pichia</a:t>
            </a:r>
            <a:r>
              <a:rPr sz="1400" b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Candida</a:t>
            </a:r>
            <a:r>
              <a:rPr sz="1400" b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Hansenula</a:t>
            </a:r>
            <a:r>
              <a:rPr sz="1400" b="0">
                <a:solidFill>
                  <a:srgbClr val="0F172A"/>
                </a:solidFill>
                <a:latin typeface="PT Sans"/>
              </a:rPr>
              <a:t> формируют белесоватую морщинистую пленку на поверхности ферментированных рассолов и вина, окисляя молочную кислоту и этанол.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Газообразование и бомбаж:</a:t>
            </a:r>
            <a:r>
              <a:rPr sz="1400" b="0">
                <a:solidFill>
                  <a:srgbClr val="0F172A"/>
                </a:solidFill>
                <a:latin typeface="PT Sans"/>
              </a:rPr>
              <a:t> Сбраживание сахаров герметично упакованных продуктов сопровождается высоким давлением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CO_2</a:t>
            </a:r>
            <a:r>
              <a:rPr sz="1400" b="0">
                <a:solidFill>
                  <a:srgbClr val="0F172A"/>
                </a:solidFill>
                <a:latin typeface="PT Sans"/>
              </a:rPr>
              <a:t>, вызывая деформацию и разрыв тары.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7: МОРФОЛОГИЯ И БИОЛОГИЯ ГРИБОВ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37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Мицелиальные грибы: строение гиф и мицелия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Септированные и ценоцитные гифы, апикальный рост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72768"/>
            <a:ext cx="10908792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ig_22_mold_hyphae_conid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988" y="1645920"/>
            <a:ext cx="8804974" cy="2057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3739896"/>
            <a:ext cx="1090879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0">
                <a:solidFill>
                  <a:srgbClr val="475569"/>
                </a:solidFill>
                <a:latin typeface="PT Sans"/>
              </a:rPr>
              <a:t>Рис. 7.2. Строение ценоцитных (несептированных) и септированных гиф плесневых грибов (Prescott's Microbiology, Fig. 24.2)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114800"/>
            <a:ext cx="532180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" y="4242816"/>
            <a:ext cx="4919472" cy="2075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Архитектура гиф и мицелия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Вегетативное тело мицелиальных грибов состоит из ветвящихся нитей - </a:t>
            </a:r>
            <a:r>
              <a:rPr sz="1400" b="1">
                <a:solidFill>
                  <a:srgbClr val="0F172A"/>
                </a:solidFill>
                <a:latin typeface="PT Sans"/>
              </a:rPr>
              <a:t>гиф</a:t>
            </a:r>
            <a:r>
              <a:rPr sz="1400" b="0">
                <a:solidFill>
                  <a:srgbClr val="0F172A"/>
                </a:solidFill>
                <a:latin typeface="PT Sans"/>
              </a:rPr>
              <a:t> диаметром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2 - 10 мкм</a:t>
            </a:r>
            <a:r>
              <a:rPr sz="1400" b="0">
                <a:solidFill>
                  <a:srgbClr val="0F172A"/>
                </a:solidFill>
                <a:latin typeface="PT Sans"/>
              </a:rPr>
              <a:t>, образующих совокупную сеть - </a:t>
            </a:r>
            <a:r>
              <a:rPr sz="1400" b="1">
                <a:solidFill>
                  <a:srgbClr val="0F172A"/>
                </a:solidFill>
                <a:latin typeface="PT Sans"/>
              </a:rPr>
              <a:t>мицелий</a:t>
            </a:r>
            <a:r>
              <a:rPr sz="1400" b="0">
                <a:solidFill>
                  <a:srgbClr val="0F172A"/>
                </a:solidFill>
                <a:latin typeface="PT Sans"/>
              </a:rPr>
              <a:t>. Клеточная стенка состоит из хитина, целлюлозы и глюканов.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7064" y="4114800"/>
            <a:ext cx="532180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28232" y="4242816"/>
            <a:ext cx="4919472" cy="2075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Септированные и ценоцитные гифы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PT Sans"/>
              </a:rPr>
              <a:t>Ценоцитные гифы</a:t>
            </a:r>
            <a:r>
              <a:rPr sz="1400" b="0">
                <a:solidFill>
                  <a:srgbClr val="0F172A"/>
                </a:solidFill>
                <a:latin typeface="PT Sans"/>
              </a:rPr>
              <a:t> (Мукоровые,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Rhizopus</a:t>
            </a:r>
            <a:r>
              <a:rPr sz="1400" b="0">
                <a:solidFill>
                  <a:srgbClr val="0F172A"/>
                </a:solidFill>
                <a:latin typeface="PT Sans"/>
              </a:rPr>
              <a:t>): перегородки отсутствуют, гифа представляет единую гигантскую многоядерную клетку. </a:t>
            </a:r>
            <a:r>
              <a:rPr sz="1400" b="1">
                <a:solidFill>
                  <a:srgbClr val="0F172A"/>
                </a:solidFill>
                <a:latin typeface="PT Sans"/>
              </a:rPr>
              <a:t>Септированные гифы</a:t>
            </a:r>
            <a:r>
              <a:rPr sz="1400" b="0">
                <a:solidFill>
                  <a:srgbClr val="0F172A"/>
                </a:solidFill>
                <a:latin typeface="PT Sans"/>
              </a:rPr>
              <a:t> (Аскомицеты,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Penicillium</a:t>
            </a:r>
            <a:r>
              <a:rPr sz="1400" b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Aspergillus</a:t>
            </a:r>
            <a:r>
              <a:rPr sz="1400" b="0">
                <a:solidFill>
                  <a:srgbClr val="0F172A"/>
                </a:solidFill>
                <a:latin typeface="PT Sans"/>
              </a:rPr>
              <a:t>): разделены поперечными септами с порами для тока цитоплазмы и органелл.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7: МОРФОЛОГИЯ И БИОЛОГИЯ ГРИБОВ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38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Спороношение и размножение микромицетов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Типы бесполых репродуктивных структур: конидии и спорангии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72768"/>
            <a:ext cx="10908792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ig_23_fungal_spores_d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493" y="1645920"/>
            <a:ext cx="3447965" cy="2057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3739896"/>
            <a:ext cx="1090879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0">
                <a:solidFill>
                  <a:srgbClr val="475569"/>
                </a:solidFill>
                <a:latin typeface="PT Sans"/>
              </a:rPr>
              <a:t>Рис. 7.3. Типы бесполого спороношения грибов: артроконидии, спорангиоспоры, конидии (Prescott's Microbiology, Fig. 24.3)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114800"/>
            <a:ext cx="532180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" y="4242816"/>
            <a:ext cx="4919472" cy="2075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Бесполые экзогенные споры (Конидии)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Образуются открыто на концах специализированных гиф - </a:t>
            </a:r>
            <a:r>
              <a:rPr sz="1400" b="1">
                <a:solidFill>
                  <a:srgbClr val="0F172A"/>
                </a:solidFill>
                <a:latin typeface="PT Sans"/>
              </a:rPr>
              <a:t>конидиеносцев</a:t>
            </a:r>
            <a:r>
              <a:rPr sz="1400" b="0">
                <a:solidFill>
                  <a:srgbClr val="0F172A"/>
                </a:solidFill>
                <a:latin typeface="PT Sans"/>
              </a:rPr>
              <a:t>. У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Penicillium</a:t>
            </a:r>
            <a:r>
              <a:rPr sz="1400" b="0">
                <a:solidFill>
                  <a:srgbClr val="0F172A"/>
                </a:solidFill>
                <a:latin typeface="PT Sans"/>
              </a:rPr>
              <a:t> конидиеносец кистевидный (мутовки фиалид несут цепочки конидий). У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Aspergillus</a:t>
            </a:r>
            <a:r>
              <a:rPr sz="1400" b="0">
                <a:solidFill>
                  <a:srgbClr val="0F172A"/>
                </a:solidFill>
                <a:latin typeface="PT Sans"/>
              </a:rPr>
              <a:t> конидиеносец заканчивается вздутием-головкой (везикулой) с радиальными стеригмами.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7064" y="4114800"/>
            <a:ext cx="532180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28232" y="4242816"/>
            <a:ext cx="4919472" cy="2075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Эндогенные споры (Спорангиоспоры)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У мукоровых грибов (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Mucor</a:t>
            </a:r>
            <a:r>
              <a:rPr sz="1400" b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Rhizopus</a:t>
            </a:r>
            <a:r>
              <a:rPr sz="1400" b="0">
                <a:solidFill>
                  <a:srgbClr val="0F172A"/>
                </a:solidFill>
                <a:latin typeface="PT Sans"/>
              </a:rPr>
              <a:t>) споры формируются внутри замкнутого шаровидного резервуара - </a:t>
            </a:r>
            <a:r>
              <a:rPr sz="1400" b="1">
                <a:solidFill>
                  <a:srgbClr val="0F172A"/>
                </a:solidFill>
                <a:latin typeface="PT Sans"/>
              </a:rPr>
              <a:t>спорангия</a:t>
            </a:r>
            <a:r>
              <a:rPr sz="1400" b="0">
                <a:solidFill>
                  <a:srgbClr val="0F172A"/>
                </a:solidFill>
                <a:latin typeface="PT Sans"/>
              </a:rPr>
              <a:t> на верхушке спорангиеносца. При созревании оболочка лопается, рассеивая тысячи воздушных спор.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7: МОРФОЛОГИЯ И БИОЛОГИЯ ГРИБОВ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39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Микотоксины микромицетов и пищевая безопасность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Вторичные токсические метаболиты и их термостойкость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72768"/>
            <a:ext cx="5321808" cy="4873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755648"/>
            <a:ext cx="4809744" cy="4507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Ключевые группы микотоксинов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Афлатоксины (B1, B2, G1, G2, M1):</a:t>
            </a:r>
            <a:r>
              <a:rPr sz="1400" b="0">
                <a:solidFill>
                  <a:srgbClr val="0F172A"/>
                </a:solidFill>
                <a:latin typeface="PT Sans"/>
              </a:rPr>
              <a:t> Продуценты: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Aspergillus flavus</a:t>
            </a:r>
            <a:r>
              <a:rPr sz="1400" b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A. parasiticus</a:t>
            </a:r>
            <a:r>
              <a:rPr sz="1400" b="0">
                <a:solidFill>
                  <a:srgbClr val="0F172A"/>
                </a:solidFill>
                <a:latin typeface="PT Sans"/>
              </a:rPr>
              <a:t>. Сильнейшие природные гепатоканцерогены и мутагены; поражают зерно, кукурузу, орехи.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Охратоксин А:</a:t>
            </a:r>
            <a:r>
              <a:rPr sz="1400" b="0">
                <a:solidFill>
                  <a:srgbClr val="0F172A"/>
                </a:solidFill>
                <a:latin typeface="PT Sans"/>
              </a:rPr>
              <a:t> Продуценты: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Penicillium verrucosum</a:t>
            </a:r>
            <a:r>
              <a:rPr sz="1400" b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Aspergillus ochraceus</a:t>
            </a:r>
            <a:r>
              <a:rPr sz="1400" b="0">
                <a:solidFill>
                  <a:srgbClr val="0F172A"/>
                </a:solidFill>
                <a:latin typeface="PT Sans"/>
              </a:rPr>
              <a:t>. Обладает выраженной нефротоксичностью и тератогенностью; накапливается в злаках, кофе, винограде.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Патулин:</a:t>
            </a:r>
            <a:r>
              <a:rPr sz="1400" b="0">
                <a:solidFill>
                  <a:srgbClr val="0F172A"/>
                </a:solidFill>
                <a:latin typeface="PT Sans"/>
              </a:rPr>
              <a:t> Продуцент: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Penicillium expansum</a:t>
            </a:r>
            <a:r>
              <a:rPr sz="1400" b="0">
                <a:solidFill>
                  <a:srgbClr val="0F172A"/>
                </a:solidFill>
                <a:latin typeface="PT Sans"/>
              </a:rPr>
              <a:t> («голубая гниль» яблок). Поражает плодово-ягодное сырье; ингибирует клеточное деление и иммунный ответ.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Фузариотоксины (Т-2, ДОН, Зеараленон):</a:t>
            </a:r>
            <a:r>
              <a:rPr sz="1400" b="0">
                <a:solidFill>
                  <a:srgbClr val="0F172A"/>
                </a:solidFill>
                <a:latin typeface="PT Sans"/>
              </a:rPr>
              <a:t> Продуценты: род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Fusarium</a:t>
            </a:r>
            <a:r>
              <a:rPr sz="1400" b="0">
                <a:solidFill>
                  <a:srgbClr val="0F172A"/>
                </a:solidFill>
                <a:latin typeface="PT Sans"/>
              </a:rPr>
              <a:t>. Вызывают трихотеценовые токсикозы, поражение кроветворения и гормональные дисфункции.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572768"/>
            <a:ext cx="5321808" cy="4873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83096" y="1755648"/>
            <a:ext cx="4809744" cy="4507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Физико-химические свойства и контроль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Экстремальная термостойкость:</a:t>
            </a:r>
            <a:r>
              <a:rPr sz="1400" b="0">
                <a:solidFill>
                  <a:srgbClr val="0F172A"/>
                </a:solidFill>
                <a:latin typeface="PT Sans"/>
              </a:rPr>
              <a:t> Микотоксины представляют собой низкомолекулярные соединения, не разрушающиеся при варке, выпечке, пастеризации и автоклавировании.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Независимость от мицелия:</a:t>
            </a:r>
            <a:r>
              <a:rPr sz="1400" b="0">
                <a:solidFill>
                  <a:srgbClr val="0F172A"/>
                </a:solidFill>
                <a:latin typeface="PT Sans"/>
              </a:rPr>
              <a:t> Фильтрация или удаление видимого мицелия плесени не очищает продукт: токсины диффундируют вглубь матрицы на значительное расстояние.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Контаминация сырья:</a:t>
            </a:r>
            <a:r>
              <a:rPr sz="1400" b="0">
                <a:solidFill>
                  <a:srgbClr val="0F172A"/>
                </a:solidFill>
                <a:latin typeface="PT Sans"/>
              </a:rPr>
              <a:t> Плесневение кормов сельскохозяйственных животных приводит к метаболической секреции гидроксилированного афлатоксина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M_1</a:t>
            </a:r>
            <a:r>
              <a:rPr sz="1400" b="0">
                <a:solidFill>
                  <a:srgbClr val="0F172A"/>
                </a:solidFill>
                <a:latin typeface="PT Sans"/>
              </a:rPr>
              <a:t> в коровье молоко.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8: ВИРУСЫ И БАКТЕРИОФАГИ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40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Природа вирусов: ультраструктура и симметрия вирионов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Облигатные ультрамикроскопические неклеточные паразиты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72768"/>
            <a:ext cx="5321808" cy="4873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755648"/>
            <a:ext cx="4809744" cy="4507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Архитектура простого и сложного вириона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Облигатный паразитизм:</a:t>
            </a:r>
            <a:r>
              <a:rPr sz="1400" b="0">
                <a:solidFill>
                  <a:srgbClr val="0F172A"/>
                </a:solidFill>
                <a:latin typeface="PT Sans"/>
              </a:rPr>
              <a:t> Вирусы лишены клеточного строения, рибосом и метаболизма; представляют собой автономный генетический материал в защитной белковой оболочке.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Нуклеокапсид:</a:t>
            </a:r>
            <a:r>
              <a:rPr sz="1400" b="0">
                <a:solidFill>
                  <a:srgbClr val="0F172A"/>
                </a:solidFill>
                <a:latin typeface="PT Sans"/>
              </a:rPr>
              <a:t> Комплекс вирусной нуклеиновой кислоты (ДНК или РНК, одно- или двухцепочечной) и белкового футляра - </a:t>
            </a:r>
            <a:r>
              <a:rPr sz="1400" b="1">
                <a:solidFill>
                  <a:srgbClr val="0F172A"/>
                </a:solidFill>
                <a:latin typeface="PT Sans"/>
              </a:rPr>
              <a:t>капсида</a:t>
            </a:r>
            <a:r>
              <a:rPr sz="1400" b="0">
                <a:solidFill>
                  <a:srgbClr val="0F172A"/>
                </a:solidFill>
                <a:latin typeface="PT Sans"/>
              </a:rPr>
              <a:t>, сложенного из капсомеров.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Суперкапсид (Оболочка):</a:t>
            </a:r>
            <a:r>
              <a:rPr sz="1400" b="0">
                <a:solidFill>
                  <a:srgbClr val="0F172A"/>
                </a:solidFill>
                <a:latin typeface="PT Sans"/>
              </a:rPr>
              <a:t> Сложные вирусы покрыты внешней мембраной из липидов клетки-хозяина со встроенными вирусными гликопротеиновыми шипами (пепломерами).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572768"/>
            <a:ext cx="5321808" cy="4873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83096" y="1755648"/>
            <a:ext cx="4809744" cy="4507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Типы симметрии капсида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Спиральная симметрия:</a:t>
            </a:r>
            <a:r>
              <a:rPr sz="1400" b="0">
                <a:solidFill>
                  <a:srgbClr val="0F172A"/>
                </a:solidFill>
                <a:latin typeface="PT Sans"/>
              </a:rPr>
              <a:t> Капсомеры укладываются по спирали вокруг спирализованной нуклеиновой кислоты, образуя жесткий или гибкий цилиндр (вирус табачной мозаики).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Икосаэдрическая (Кубическая):</a:t>
            </a:r>
            <a:r>
              <a:rPr sz="1400" b="0">
                <a:solidFill>
                  <a:srgbClr val="0F172A"/>
                </a:solidFill>
                <a:latin typeface="PT Sans"/>
              </a:rPr>
              <a:t> Правильный двадцатигранник (20 треугольных граней и 12 вершин); обеспечивает максимальный внутренний объем при минимальной площади белка.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Бинарная (Смешанная):</a:t>
            </a:r>
            <a:r>
              <a:rPr sz="1400" b="0">
                <a:solidFill>
                  <a:srgbClr val="0F172A"/>
                </a:solidFill>
                <a:latin typeface="PT Sans"/>
              </a:rPr>
              <a:t> Характерна для Т-четных бактериофагов: икосаэдрическая головка соединена со спиральным сократительным хвостовым чехлом.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8: ВИРУСЫ И БАКТЕРИОФАГИ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41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Морфология бактериофага Т4 и фаговая инфекция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Анатомия сложного бактериофага: головка, чехол, базальная пластинка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72768"/>
            <a:ext cx="5029200" cy="4873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ig_24_bacteriophage_t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92" y="1682496"/>
            <a:ext cx="2372175" cy="43708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12648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0">
                <a:solidFill>
                  <a:srgbClr val="475569"/>
                </a:solidFill>
                <a:latin typeface="PT Sans"/>
              </a:rPr>
              <a:t>Рис. 8.1. Ультраструктурная схема строения бактериофага Т4 (Prescott's Microbiology, Fig. 6.6)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572768"/>
            <a:ext cx="5605272" cy="23454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63056" y="1700784"/>
            <a:ext cx="5166360" cy="20894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Анатомические элементы бактериофага Т4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1. </a:t>
            </a:r>
            <a:r>
              <a:rPr sz="1400" b="1">
                <a:solidFill>
                  <a:srgbClr val="0F172A"/>
                </a:solidFill>
                <a:latin typeface="PT Sans"/>
              </a:rPr>
              <a:t>Головка</a:t>
            </a:r>
            <a:r>
              <a:rPr sz="1400" b="0">
                <a:solidFill>
                  <a:srgbClr val="0F172A"/>
                </a:solidFill>
                <a:latin typeface="PT Sans"/>
              </a:rPr>
              <a:t>: икосаэдрический капсид, содержащий плотно упакованную двухцепочечную ДНК (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169 т.п.н.</a:t>
            </a:r>
            <a:r>
              <a:rPr sz="1400" b="0">
                <a:solidFill>
                  <a:srgbClr val="0F172A"/>
                </a:solidFill>
                <a:latin typeface="PT Sans"/>
              </a:rPr>
              <a:t>). 2. </a:t>
            </a:r>
            <a:r>
              <a:rPr sz="1400" b="1">
                <a:solidFill>
                  <a:srgbClr val="0F172A"/>
                </a:solidFill>
                <a:latin typeface="PT Sans"/>
              </a:rPr>
              <a:t>Воротничок (Collar)</a:t>
            </a:r>
            <a:r>
              <a:rPr sz="1400" b="0">
                <a:solidFill>
                  <a:srgbClr val="0F172A"/>
                </a:solidFill>
                <a:latin typeface="PT Sans"/>
              </a:rPr>
              <a:t>: шейка фага. 3. </a:t>
            </a:r>
            <a:r>
              <a:rPr sz="1400" b="1">
                <a:solidFill>
                  <a:srgbClr val="0F172A"/>
                </a:solidFill>
                <a:latin typeface="PT Sans"/>
              </a:rPr>
              <a:t>Хвостовой чехол</a:t>
            </a:r>
            <a:r>
              <a:rPr sz="1400" b="0">
                <a:solidFill>
                  <a:srgbClr val="0F172A"/>
                </a:solidFill>
                <a:latin typeface="PT Sans"/>
              </a:rPr>
              <a:t>: полый сократительный цилиндр вокруг центрального стержня.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4101084"/>
            <a:ext cx="5605272" cy="23454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63056" y="4229100"/>
            <a:ext cx="5166360" cy="20894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Инъекционный аппарат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4. </a:t>
            </a:r>
            <a:r>
              <a:rPr sz="1400" b="1">
                <a:solidFill>
                  <a:srgbClr val="0F172A"/>
                </a:solidFill>
                <a:latin typeface="PT Sans"/>
              </a:rPr>
              <a:t>Базальная пластинка</a:t>
            </a:r>
            <a:r>
              <a:rPr sz="1400" b="0">
                <a:solidFill>
                  <a:srgbClr val="0F172A"/>
                </a:solidFill>
                <a:latin typeface="PT Sans"/>
              </a:rPr>
              <a:t>: несет 6 коротких шипов (pins) и фермент лизоцим фага. 5. </a:t>
            </a:r>
            <a:r>
              <a:rPr sz="1400" b="1">
                <a:solidFill>
                  <a:srgbClr val="0F172A"/>
                </a:solidFill>
                <a:latin typeface="PT Sans"/>
              </a:rPr>
              <a:t>Хвостовые нити (Tail fibers)</a:t>
            </a:r>
            <a:r>
              <a:rPr sz="1400" b="0">
                <a:solidFill>
                  <a:srgbClr val="0F172A"/>
                </a:solidFill>
                <a:latin typeface="PT Sans"/>
              </a:rPr>
              <a:t>: рецепторные структуры, специфически связывающиеся с молекулами ЛПС или белками OmpC внешней мембраны бактерии.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8: ВИРУСЫ И БАКТЕРИОФАГИ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42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Литический и лизогенный циклы бактериофагов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Механизмы инфекции и проблема фаголизиса в биотехнологии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72768"/>
            <a:ext cx="5321808" cy="4873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755648"/>
            <a:ext cx="4809744" cy="4507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Литический цикл вирулентного фага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1. Адсорбция:</a:t>
            </a:r>
            <a:r>
              <a:rPr sz="1400" b="0">
                <a:solidFill>
                  <a:srgbClr val="0F172A"/>
                </a:solidFill>
                <a:latin typeface="PT Sans"/>
              </a:rPr>
              <a:t> Специфическое прикрепление хвостовых нитей к поверхностным рецепторам бактериальной клеточной стенки.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2. Инъекция генома:</a:t>
            </a:r>
            <a:r>
              <a:rPr sz="1400" b="0">
                <a:solidFill>
                  <a:srgbClr val="0F172A"/>
                </a:solidFill>
                <a:latin typeface="PT Sans"/>
              </a:rPr>
              <a:t> Сокращение чехла пробивает мембрану полым стержнем; ДНК впрыскивается в цитоплазму клетки, пустой капсид остается снаружи.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3. Репликация и морфогенез:</a:t>
            </a:r>
            <a:r>
              <a:rPr sz="1400" b="0">
                <a:solidFill>
                  <a:srgbClr val="0F172A"/>
                </a:solidFill>
                <a:latin typeface="PT Sans"/>
              </a:rPr>
              <a:t> Бактериальный геном деградирует; клеточный аппарат синтезирует вирусную ДНК и структурные белки; сборка сотен фаговых частиц.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4. Лизис клетки:</a:t>
            </a:r>
            <a:r>
              <a:rPr sz="1400" b="0">
                <a:solidFill>
                  <a:srgbClr val="0F172A"/>
                </a:solidFill>
                <a:latin typeface="PT Sans"/>
              </a:rPr>
              <a:t> Синтез эндолизина и холина разрушает пептидогликан изнутри, вызывая осмотический взрыв клетки и выход до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200 - 300</a:t>
            </a:r>
            <a:r>
              <a:rPr sz="1400" b="0">
                <a:solidFill>
                  <a:srgbClr val="0F172A"/>
                </a:solidFill>
                <a:latin typeface="PT Sans"/>
              </a:rPr>
              <a:t> фагов.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572768"/>
            <a:ext cx="5321808" cy="4873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83096" y="1755648"/>
            <a:ext cx="4809744" cy="4507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Фаголизис заквасочных культур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Проблема фагов в биоиндустрии:</a:t>
            </a:r>
            <a:r>
              <a:rPr sz="1400" b="0">
                <a:solidFill>
                  <a:srgbClr val="0F172A"/>
                </a:solidFill>
                <a:latin typeface="PT Sans"/>
              </a:rPr>
              <a:t> Бактериофаги являются главной причиной остановки брожения в ферментативных производствах (кисломолочная продукция, сыры, пивоварение).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Инфицирование стартерных культур:</a:t>
            </a:r>
            <a:r>
              <a:rPr sz="1400" b="0">
                <a:solidFill>
                  <a:srgbClr val="0F172A"/>
                </a:solidFill>
                <a:latin typeface="PT Sans"/>
              </a:rPr>
              <a:t> Поражение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Lactococcus lactis</a:t>
            </a:r>
            <a:r>
              <a:rPr sz="1400" b="0">
                <a:solidFill>
                  <a:srgbClr val="0F172A"/>
                </a:solidFill>
                <a:latin typeface="PT Sans"/>
              </a:rPr>
              <a:t>,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Streptococcus thermophilus</a:t>
            </a:r>
            <a:r>
              <a:rPr sz="1400" b="0">
                <a:solidFill>
                  <a:srgbClr val="0F172A"/>
                </a:solidFill>
                <a:latin typeface="PT Sans"/>
              </a:rPr>
              <a:t> приводит к падению кислотонакопления и полной порче многотонной партии сырья.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Защитные стратегии:</a:t>
            </a:r>
            <a:r>
              <a:rPr sz="1400" b="0">
                <a:solidFill>
                  <a:srgbClr val="0F172A"/>
                </a:solidFill>
                <a:latin typeface="PT Sans"/>
              </a:rPr>
              <a:t> Использование фагоустойчивых заквасок, периодическая ротация культур, фильтрация технологического воздуха (HEPA) и дезинфекция паром.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9: МЕТОДЫ КОЛИЧЕСТВЕННОГО УЧЕТА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43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Схема серийных десятичных разведений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Методика подготовки пробы для количественного микробиологического анализа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72768"/>
            <a:ext cx="5029200" cy="4873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ig_25_serial_dilutions_scheme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134783" y="1682496"/>
            <a:ext cx="4039793" cy="43708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12648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0">
                <a:solidFill>
                  <a:srgbClr val="475569"/>
                </a:solidFill>
                <a:latin typeface="PT Sans"/>
              </a:rPr>
              <a:t>Рис. 9.1. Классическая схема серийных десятичных разведений и глубинного посева (Prescott's Microbiology, Fig. 7.32)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572768"/>
            <a:ext cx="5605272" cy="23454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63056" y="1700784"/>
            <a:ext cx="5166360" cy="20894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Принцип десятичного титрования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Исходный образец разводится серией последовательных переносов: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1.0 мл</a:t>
            </a:r>
            <a:r>
              <a:rPr sz="1400" b="0">
                <a:solidFill>
                  <a:srgbClr val="0F172A"/>
                </a:solidFill>
                <a:latin typeface="PT Sans"/>
              </a:rPr>
              <a:t> суспензии вносится в пробирку с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9.0 мл</a:t>
            </a:r>
            <a:r>
              <a:rPr sz="1400" b="0">
                <a:solidFill>
                  <a:srgbClr val="0F172A"/>
                </a:solidFill>
                <a:latin typeface="PT Sans"/>
              </a:rPr>
              <a:t> стерильного изотонического растворителя (разведение 10</a:t>
            </a:r>
            <a:r>
              <a:rPr sz="1050" b="0" baseline="30000">
                <a:solidFill>
                  <a:srgbClr val="0F172A"/>
                </a:solidFill>
                <a:latin typeface="PT Sans"/>
              </a:rPr>
              <a:t>-1</a:t>
            </a:r>
            <a:r>
              <a:rPr sz="1400" b="0">
                <a:solidFill>
                  <a:srgbClr val="0F172A"/>
                </a:solidFill>
                <a:latin typeface="PT Sans"/>
              </a:rPr>
              <a:t>), далее переносится в следующую (10</a:t>
            </a:r>
            <a:r>
              <a:rPr sz="1050" b="0" baseline="30000">
                <a:solidFill>
                  <a:srgbClr val="0F172A"/>
                </a:solidFill>
                <a:latin typeface="PT Sans"/>
              </a:rPr>
              <a:t>-2</a:t>
            </a:r>
            <a:r>
              <a:rPr sz="1400" b="0">
                <a:solidFill>
                  <a:srgbClr val="0F172A"/>
                </a:solidFill>
                <a:latin typeface="PT Sans"/>
              </a:rPr>
              <a:t>, 10</a:t>
            </a:r>
            <a:r>
              <a:rPr sz="1050" b="0" baseline="30000">
                <a:solidFill>
                  <a:srgbClr val="0F172A"/>
                </a:solidFill>
                <a:latin typeface="PT Sans"/>
              </a:rPr>
              <a:t>-3</a:t>
            </a:r>
            <a:r>
              <a:rPr sz="1400" b="0">
                <a:solidFill>
                  <a:srgbClr val="0F172A"/>
                </a:solidFill>
                <a:latin typeface="PT Sans"/>
              </a:rPr>
              <a:t>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4101084"/>
            <a:ext cx="5605272" cy="23454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63056" y="4229100"/>
            <a:ext cx="5166360" cy="20894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Цель серийного разведения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Снижение концентрации клеток до уровня, позволяющего после посева получить на чашке Петри изолированные, не сливающиеся колонии, доступные для прецизионного подсчета.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9: МЕТОДЫ КОЛИЧЕСТВЕННОГО УЧЕТА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44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Поверхностный и глубинный посев: подсчет КОЕ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Методы чашечного учета колониеобразующих единиц (ГОСТ ISO 7218)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72768"/>
            <a:ext cx="10908792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ig_26_cfu_counting_plates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146566" y="1645920"/>
            <a:ext cx="3895819" cy="2057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3739896"/>
            <a:ext cx="1090879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0">
                <a:solidFill>
                  <a:srgbClr val="475569"/>
                </a:solidFill>
                <a:latin typeface="PT Sans"/>
              </a:rPr>
              <a:t>Рис. 9.2. Техника поверхностного распределения суспензии шпателем Дригальского на чашке Петри (Prescott's Microbiology, Fig. 7.31)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114800"/>
            <a:ext cx="532180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" y="4242816"/>
            <a:ext cx="4919472" cy="2075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Поверхностный и глубинный посевы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PT Sans"/>
              </a:rPr>
              <a:t>Поверхностный посев</a:t>
            </a:r>
            <a:r>
              <a:rPr sz="1400" b="0">
                <a:solidFill>
                  <a:srgbClr val="0F172A"/>
                </a:solidFill>
                <a:latin typeface="PT Sans"/>
              </a:rPr>
              <a:t>: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0.1 мл</a:t>
            </a:r>
            <a:r>
              <a:rPr sz="1400" b="0">
                <a:solidFill>
                  <a:srgbClr val="0F172A"/>
                </a:solidFill>
                <a:latin typeface="PT Sans"/>
              </a:rPr>
              <a:t> инокулята растирается шпателем Дригальского по поверхности застывшего агара; колонии вырастают строго на поверхности. </a:t>
            </a:r>
            <a:r>
              <a:rPr sz="1400" b="1">
                <a:solidFill>
                  <a:srgbClr val="0F172A"/>
                </a:solidFill>
                <a:latin typeface="PT Sans"/>
              </a:rPr>
              <a:t>Глубинный посев</a:t>
            </a:r>
            <a:r>
              <a:rPr sz="1400" b="0">
                <a:solidFill>
                  <a:srgbClr val="0F172A"/>
                </a:solidFill>
                <a:latin typeface="PT Sans"/>
              </a:rPr>
              <a:t>: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1.0 мл</a:t>
            </a:r>
            <a:r>
              <a:rPr sz="1400" b="0">
                <a:solidFill>
                  <a:srgbClr val="0F172A"/>
                </a:solidFill>
                <a:latin typeface="PT Sans"/>
              </a:rPr>
              <a:t> смешивается с расплавленной и остуженной до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45 град. C</a:t>
            </a:r>
            <a:r>
              <a:rPr sz="1400" b="0">
                <a:solidFill>
                  <a:srgbClr val="0F172A"/>
                </a:solidFill>
                <a:latin typeface="PT Sans"/>
              </a:rPr>
              <a:t> агаризованной средой.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7064" y="4114800"/>
            <a:ext cx="532180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28232" y="4242816"/>
            <a:ext cx="4919472" cy="2075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Диапазон достоверности и формула КОЕ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Достоверному учету подлежат чашки, содержащие от 15 до 300 колоний. Расчет концентрации жизнеспособных клеток (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N</a:t>
            </a:r>
            <a:r>
              <a:rPr sz="1400" b="0">
                <a:solidFill>
                  <a:srgbClr val="0F172A"/>
                </a:solidFill>
                <a:latin typeface="PT Sans"/>
              </a:rPr>
              <a:t>) ведется по стандартизованной формуле: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N = Сумма C / (V * (n1 + 0.1 * n2) * d)</a:t>
            </a:r>
            <a:r>
              <a:rPr sz="1400" b="0">
                <a:solidFill>
                  <a:srgbClr val="0F172A"/>
                </a:solidFill>
                <a:latin typeface="PT Sans"/>
              </a:rPr>
              <a:t>, где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N = Сумма C / (V * (n1 + 0.1 * n2) * d)</a:t>
            </a:r>
            <a:r>
              <a:rPr sz="1400" b="0">
                <a:solidFill>
                  <a:srgbClr val="0F172A"/>
                </a:solidFill>
                <a:latin typeface="PT Sans"/>
              </a:rPr>
              <a:t> - сумма колоний,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d</a:t>
            </a:r>
            <a:r>
              <a:rPr sz="1400" b="0">
                <a:solidFill>
                  <a:srgbClr val="0F172A"/>
                </a:solidFill>
                <a:latin typeface="PT Sans"/>
              </a:rPr>
              <a:t> - коэффициент разведения.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PT Sans"/>
              </a:defRPr>
            </a:pPr>
            <a:r>
              <a:t>МОДУЛЬ 9: МЕТОДЫ КОЛИЧЕСТВЕННОГО УЧЕТА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92608"/>
            <a:ext cx="121615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PT Sans"/>
              </a:defRPr>
            </a:pPr>
            <a:r>
              <a:t>45 /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0879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T Sans"/>
              </a:rPr>
              <a:t>Итоги лекции: принципы организации микроорганизмов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475569"/>
                </a:solidFill>
                <a:latin typeface="PT Sans"/>
              </a:rPr>
              <a:t>Сводные биологические закономерности и задел для лабораторного практикума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90879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PT Sans"/>
              </a:defRPr>
            </a:pPr>
            <a:r>
              <a:t>Курс «Пищевая микробиология, санитария и гигиена» | Кафедра стандартизации и управления качеством | РУДН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72768"/>
            <a:ext cx="5321808" cy="4873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755648"/>
            <a:ext cx="4809744" cy="4507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Фундаментальные выводы лекции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Клеточное древо жизни:</a:t>
            </a:r>
            <a:r>
              <a:rPr sz="1400" b="0">
                <a:solidFill>
                  <a:srgbClr val="0F172A"/>
                </a:solidFill>
                <a:latin typeface="PT Sans"/>
              </a:rPr>
              <a:t> Биосфера образована тремя доменами (Bacteria, Archaea, Eukarya), дифференцированными по структуре 16S/18S рРНК и мембранной биохимии.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Фактор размера $S/V$:</a:t>
            </a:r>
            <a:r>
              <a:rPr sz="1400" b="0">
                <a:solidFill>
                  <a:srgbClr val="0F172A"/>
                </a:solidFill>
                <a:latin typeface="PT Sans"/>
              </a:rPr>
              <a:t> Высокое отношение площади поверхности к объему обусловливает колоссальную скорость метаболизма, транспорта нутриентов и репродукции прокариот.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Клеточные покровы:</a:t>
            </a:r>
            <a:r>
              <a:rPr sz="1400" b="0">
                <a:solidFill>
                  <a:srgbClr val="0F172A"/>
                </a:solidFill>
                <a:latin typeface="PT Sans"/>
              </a:rPr>
              <a:t> Архитектура стенки (толстый пептидогликан грамположительных vs внешняя мембрана и ЛПС грамотрицательных) определяет реакцию на красители и биоциды.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Эндоспоры и покоящиеся формы:</a:t>
            </a:r>
            <a:r>
              <a:rPr sz="1400" b="0">
                <a:solidFill>
                  <a:srgbClr val="0F172A"/>
                </a:solidFill>
                <a:latin typeface="PT Sans"/>
              </a:rPr>
              <a:t> Многослойный кортекс, дегидратация сердцевины и Ca-DPA придают эндоспорам экстремальную термостойкость, требующую режимов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F_0</a:t>
            </a:r>
            <a:r>
              <a:rPr sz="1400" b="0">
                <a:solidFill>
                  <a:srgbClr val="0F172A"/>
                </a:solidFill>
                <a:latin typeface="PT Sans"/>
              </a:rPr>
              <a:t>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Эукариоты и вирусы:</a:t>
            </a:r>
            <a:r>
              <a:rPr sz="1400" b="0">
                <a:solidFill>
                  <a:srgbClr val="0F172A"/>
                </a:solidFill>
                <a:latin typeface="PT Sans"/>
              </a:rPr>
              <a:t> Микромицеты (дрожжи и плесени) обладают развитой эукариотической компартментализацией, а вирусы и фаги - облигатные неклеточные регуляторы биоты.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572768"/>
            <a:ext cx="5321808" cy="4873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83096" y="1755648"/>
            <a:ext cx="4809744" cy="4507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50" b="1">
                <a:solidFill>
                  <a:srgbClr val="0F172A"/>
                </a:solidFill>
                <a:latin typeface="PT Sans"/>
              </a:rPr>
              <a:t>Задел для предстоящих семинаров и практикумов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Семинар 1: Морфология и микроскопия:</a:t>
            </a:r>
            <a:r>
              <a:rPr sz="1400" b="0">
                <a:solidFill>
                  <a:srgbClr val="0F172A"/>
                </a:solidFill>
                <a:latin typeface="PT Sans"/>
              </a:rPr>
              <a:t> Практическое освоение иммерсионной микроскопии, приготовление фиксированных мазков и дифференциальная окраска чистых культур по Граму.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Семинар 2: Количественный микробиологический учет:</a:t>
            </a:r>
            <a:r>
              <a:rPr sz="1400" b="0">
                <a:solidFill>
                  <a:srgbClr val="0F172A"/>
                </a:solidFill>
                <a:latin typeface="PT Sans"/>
              </a:rPr>
              <a:t> Отработка техники серийных десятичных разведений, поверхностного и глубинного посева на чашки Петри, подсчет КОЕ и расчет титра.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Семинар 3: Кинетика отмирания и параметры термообработки:</a:t>
            </a:r>
            <a:r>
              <a:rPr sz="1400" b="0">
                <a:solidFill>
                  <a:srgbClr val="0F172A"/>
                </a:solidFill>
                <a:latin typeface="PT Sans"/>
              </a:rPr>
              <a:t> Решение задач на расчет величин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D</a:t>
            </a:r>
            <a:r>
              <a:rPr sz="1050" b="0" baseline="-25000">
                <a:solidFill>
                  <a:srgbClr val="0F172A"/>
                </a:solidFill>
                <a:latin typeface="PT Sans"/>
              </a:rPr>
              <a:t>T</a:t>
            </a:r>
            <a:r>
              <a:rPr sz="1400" b="0">
                <a:solidFill>
                  <a:srgbClr val="0F172A"/>
                </a:solidFill>
                <a:latin typeface="PT Sans"/>
              </a:rPr>
              <a:t> и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z</a:t>
            </a:r>
            <a:r>
              <a:rPr sz="1400" b="0">
                <a:solidFill>
                  <a:srgbClr val="0F172A"/>
                </a:solidFill>
                <a:latin typeface="PT Sans"/>
              </a:rPr>
              <a:t>, определение эквивалентного стерилизующего эффекта </a:t>
            </a:r>
            <a:r>
              <a:rPr sz="1400" b="0" i="1">
                <a:solidFill>
                  <a:srgbClr val="0F172A"/>
                </a:solidFill>
                <a:latin typeface="PT Sans"/>
              </a:rPr>
              <a:t>F_0</a:t>
            </a:r>
            <a:r>
              <a:rPr sz="1400" b="0">
                <a:solidFill>
                  <a:srgbClr val="0F172A"/>
                </a:solidFill>
                <a:latin typeface="PT Sans"/>
              </a:rPr>
              <a:t> для пастеризации и консервирования.</a:t>
            </a:r>
          </a:p>
          <a:p>
            <a:pPr>
              <a:spcBef>
                <a:spcPts val="300"/>
              </a:spcBef>
              <a:spcAft>
                <a:spcPts val="500"/>
              </a:spcAft>
            </a:pPr>
            <a:r>
              <a:rPr sz="1400" b="0">
                <a:solidFill>
                  <a:srgbClr val="0F172A"/>
                </a:solidFill>
                <a:latin typeface="PT Sans"/>
              </a:rPr>
              <a:t>- </a:t>
            </a:r>
            <a:r>
              <a:rPr sz="1400" b="1">
                <a:solidFill>
                  <a:srgbClr val="0F172A"/>
                </a:solidFill>
                <a:latin typeface="PT Sans"/>
              </a:rPr>
              <a:t>Рекомендуемая литература:</a:t>
            </a:r>
            <a:r>
              <a:rPr sz="1400" b="0">
                <a:solidFill>
                  <a:srgbClr val="0F172A"/>
                </a:solidFill>
                <a:latin typeface="PT Sans"/>
              </a:rPr>
              <a:t> 1. Prescott's Microbiology (Willey et al., 12th ed.). 2. ГОСТ ISO 7218-2015: Микробиология пищевых продуктов. 3. Brock Biology of Microorganisms (16th ed.).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7636</Words>
  <Application>Microsoft Macintosh PowerPoint</Application>
  <PresentationFormat>Широкоэкранный</PresentationFormat>
  <Paragraphs>517</Paragraphs>
  <Slides>45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45</vt:i4>
      </vt:variant>
    </vt:vector>
  </HeadingPairs>
  <TitlesOfParts>
    <vt:vector size="50" baseType="lpstr">
      <vt:lpstr>Aptos</vt:lpstr>
      <vt:lpstr>Arial</vt:lpstr>
      <vt:lpstr>Calibri</vt:lpstr>
      <vt:lpstr>PT Sans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Алексей Ярославцев</cp:lastModifiedBy>
  <cp:revision>2</cp:revision>
  <dcterms:created xsi:type="dcterms:W3CDTF">2013-01-27T09:14:16Z</dcterms:created>
  <dcterms:modified xsi:type="dcterms:W3CDTF">2026-09-07T01:48:21Z</dcterms:modified>
  <cp:category/>
</cp:coreProperties>
</file>